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2"/>
  </p:sldMasterIdLst>
  <p:notesMasterIdLst>
    <p:notesMasterId r:id="rId93"/>
  </p:notesMasterIdLst>
  <p:handoutMasterIdLst>
    <p:handoutMasterId r:id="rId94"/>
  </p:handoutMasterIdLst>
  <p:sldIdLst>
    <p:sldId id="256" r:id="rId70"/>
    <p:sldId id="257" r:id="rId71"/>
    <p:sldId id="258" r:id="rId72"/>
    <p:sldId id="259" r:id="rId73"/>
    <p:sldId id="260" r:id="rId74"/>
    <p:sldId id="261" r:id="rId75"/>
    <p:sldId id="262" r:id="rId76"/>
    <p:sldId id="263" r:id="rId77"/>
    <p:sldId id="264" r:id="rId78"/>
    <p:sldId id="265" r:id="rId79"/>
    <p:sldId id="266" r:id="rId80"/>
    <p:sldId id="267" r:id="rId81"/>
    <p:sldId id="268" r:id="rId82"/>
    <p:sldId id="269" r:id="rId83"/>
    <p:sldId id="270" r:id="rId84"/>
    <p:sldId id="271" r:id="rId85"/>
    <p:sldId id="272" r:id="rId86"/>
    <p:sldId id="273" r:id="rId8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0000"/>
    <a:srgbClr val="262626"/>
    <a:srgbClr val="131313"/>
    <a:srgbClr val="242428"/>
    <a:srgbClr val="19181C"/>
    <a:srgbClr val="E15310"/>
    <a:srgbClr val="006D85"/>
    <a:srgbClr val="888D91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38" autoAdjust="0"/>
    <p:restoredTop sz="97843" autoAdjust="0"/>
  </p:normalViewPr>
  <p:slideViewPr>
    <p:cSldViewPr snapToGrid="0">
      <p:cViewPr varScale="1">
        <p:scale>
          <a:sx n="79" d="100"/>
          <a:sy n="79" d="100"/>
        </p:scale>
        <p:origin x="564" y="78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slideMaster" Target="slideMasters/slideMaster1.xml"/><Relationship Id="rId70" Type="http://schemas.openxmlformats.org/officeDocument/2006/relationships/slide" Target="slides/slide1.xml"/><Relationship Id="rId71" Type="http://schemas.openxmlformats.org/officeDocument/2006/relationships/slide" Target="slides/slide2.xml"/><Relationship Id="rId72" Type="http://schemas.openxmlformats.org/officeDocument/2006/relationships/slide" Target="slides/slide3.xml"/><Relationship Id="rId73" Type="http://schemas.openxmlformats.org/officeDocument/2006/relationships/slide" Target="slides/slide4.xml"/><Relationship Id="rId74" Type="http://schemas.openxmlformats.org/officeDocument/2006/relationships/slide" Target="slides/slide5.xml"/><Relationship Id="rId75" Type="http://schemas.openxmlformats.org/officeDocument/2006/relationships/slide" Target="slides/slide6.xml"/><Relationship Id="rId76" Type="http://schemas.openxmlformats.org/officeDocument/2006/relationships/slide" Target="slides/slide7.xml"/><Relationship Id="rId77" Type="http://schemas.openxmlformats.org/officeDocument/2006/relationships/slide" Target="slides/slide8.xml"/><Relationship Id="rId78" Type="http://schemas.openxmlformats.org/officeDocument/2006/relationships/slide" Target="slides/slide9.xml"/><Relationship Id="rId79" Type="http://schemas.openxmlformats.org/officeDocument/2006/relationships/slide" Target="slides/slide10.xml"/><Relationship Id="rId80" Type="http://schemas.openxmlformats.org/officeDocument/2006/relationships/slide" Target="slides/slide11.xml"/><Relationship Id="rId81" Type="http://schemas.openxmlformats.org/officeDocument/2006/relationships/slide" Target="slides/slide12.xml"/><Relationship Id="rId82" Type="http://schemas.openxmlformats.org/officeDocument/2006/relationships/slide" Target="slides/slide13.xml"/><Relationship Id="rId83" Type="http://schemas.openxmlformats.org/officeDocument/2006/relationships/slide" Target="slides/slide14.xml"/><Relationship Id="rId84" Type="http://schemas.openxmlformats.org/officeDocument/2006/relationships/slide" Target="slides/slide15.xml"/><Relationship Id="rId85" Type="http://schemas.openxmlformats.org/officeDocument/2006/relationships/slide" Target="slides/slide16.xml"/><Relationship Id="rId86" Type="http://schemas.openxmlformats.org/officeDocument/2006/relationships/slide" Target="slides/slide17.xml"/><Relationship Id="rId87" Type="http://schemas.openxmlformats.org/officeDocument/2006/relationships/slide" Target="slides/slide18.xml"/><Relationship Id="rId93" Type="http://schemas.openxmlformats.org/officeDocument/2006/relationships/notesMaster" Target="notesMasters/notesMaster1.xml"/><Relationship Id="rId94" Type="http://schemas.openxmlformats.org/officeDocument/2006/relationships/handoutMaster" Target="handoutMasters/handoutMaster1.xml"/><Relationship Id="rId95" Type="http://schemas.openxmlformats.org/officeDocument/2006/relationships/commentAuthors" Target="commentAuthors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2/12/2024 2:41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2/12/2024 2:41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we fine-tune a small open model with Unsloth on an AMD Radeon GPU, and we teach it to play Sudoku using GRPO reinforcement learning. Hands-on: everyone gets a hosted Jupyter notebook on a real AMD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blocks. First half is concepts, second half is hands-on on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grounding before we touch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LLM predicts the next token. Base versus instruct matters when you pick a checkpoint: for GRPO from scratch we usually start from a base or a small instruct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Fine-tuning is not about teaching new facts so much as new behaviour: style, format, and task focus. It is frequently cheaper than prompt engineering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LoRA freezes the base model and trains small adapter matrices. QLoRA adds 4-bit quantization of the frozen base, which is what lets a workshop-size GPU handle a real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SFT needs the right answer written down. GRPO only needs a judge. For Sudoku we can check a board programmatically, so a reward function is easy and GRPO is the natural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a small model first. SFT path: find or upload data. GRPO path: generate attempts and write a reward function. Then choose LoRA or QLoRA, train, evaluate. The knobs at the bottom are the ones you will actually touch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Unsloth is the accelerator layer. Same Transformers API, materially less memory and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switch to the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Sudoku for GRPO: correctness is checkable in code, so the reward function is a few lines. That is exactly the property GRPO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go to notebooks.amd.com/ind-dev now. Password RadeonUnslothTuning. Choose the Fine-Tuning LLMs with Unsloth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rocm-smi is the one you will keep open in a second tab. If utilisation is flat at zero while a cell shows an asterisk, something is running on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run in order. The asterisk means the kernel is busy. Model download happens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Fifteen steps is a demo, not a converged run. What matters is that the reward is trending and the board output is structurally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workshop issues are one of these six. Out of memory is the most common: QLoRA and a shorter sequence length fix it almost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links are on this slide. The notebook stays up after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2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80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Klavika Regular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Klavika Regular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14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Klavika Regular" panose="020B0604020202020204" pitchFamily="34" charset="0"/>
                <a:ea typeface="+mn-ea"/>
                <a:cs typeface="Klavika Regular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Klavika Regular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926" r:id="rId2"/>
    <p:sldLayoutId id="2147484928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9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27" r:id="rId26"/>
    <p:sldLayoutId id="2147484671" r:id="rId27"/>
    <p:sldLayoutId id="2147484585" r:id="rId28"/>
    <p:sldLayoutId id="2147484924" r:id="rId29"/>
    <p:sldLayoutId id="2147484299" r:id="rId30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Klavika Regular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Klavika Regular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AMD Unsloth GRPO Fine-tuning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600" b="0">
                <a:solidFill>
                  <a:srgbClr val="C6C8CC"/>
                </a:solidFill>
                <a:latin typeface="Klavika Medium"/>
              </a:rPr>
              <a:t>Malini Bhandaru  |  Shailen Sobhee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>
                <a:solidFill>
                  <a:srgbClr val="FFFFFF"/>
                </a:solidFill>
                <a:latin typeface="Klavika Bold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60520" y="1298448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160520" y="1298448"/>
            <a:ext cx="64008" cy="67665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34840" y="1453895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26522"/>
                </a:solidFill>
                <a:latin typeface="Klavika 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3990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Fine-tuning: what and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682495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The problem it solves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2093976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160520" y="2093976"/>
            <a:ext cx="64008" cy="676656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249424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7C97"/>
                </a:solidFill>
                <a:latin typeface="Klavika 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94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Types of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478024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LoRA, QLoRA, SFT, GRPO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889504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160520" y="2889504"/>
            <a:ext cx="64008" cy="67665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0449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D1C24"/>
                </a:solidFill>
                <a:latin typeface="Klavika 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900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The Unsloth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273552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Faster, leaner, no-code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685031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160520" y="3685031"/>
            <a:ext cx="64008" cy="67665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840479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26522"/>
                </a:solidFill>
                <a:latin typeface="Klavika 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78561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A game of Sudoku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069079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Our reward-driven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480560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160520" y="4480560"/>
            <a:ext cx="64008" cy="676656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636008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7C97"/>
                </a:solidFill>
                <a:latin typeface="Klavika Bol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581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AMD Radeon GPU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864608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rocm-smi and rocminfo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5276088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160520" y="5276088"/>
            <a:ext cx="64008" cy="67665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5431536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D1C24"/>
                </a:solidFill>
                <a:latin typeface="Klavika Bol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3766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Hands-on notebook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660136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Run it yourself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Part 1: The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800" b="0">
                <a:solidFill>
                  <a:srgbClr val="C6C8CC"/>
                </a:solidFill>
                <a:latin typeface="Klavika Light"/>
              </a:rPr>
              <a:t>What a model is, what fine-tuning changes, and how GRPO learns from rewards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What is a Large Language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98448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8DADE"/>
                </a:solidFill>
                <a:latin typeface="Klavika Regular"/>
              </a:rPr>
              <a:t>A neural network trained on a huge amount of text so it can predict </a:t>
            </a:r>
            <a:r>
              <a:rPr sz="1700" b="1">
                <a:solidFill>
                  <a:srgbClr val="FFFFFF"/>
                </a:solidFill>
                <a:latin typeface="Klavika Bold"/>
              </a:rPr>
              <a:t>the next token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given what came before.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600"/>
              </a:spcAft>
            </a:pPr>
            <a:r>
              <a:rPr sz="1500" b="0">
                <a:solidFill>
                  <a:srgbClr val="C6C8CC"/>
                </a:solidFill>
                <a:latin typeface="Klavika Regular"/>
              </a:rPr>
              <a:t>That one simple skill, done at enormous scale, is enough to chat, summarise, write code and reason.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1188720"/>
            <a:ext cx="3968496" cy="169164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81544" y="1325880"/>
            <a:ext cx="100584" cy="10058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64423" y="1325880"/>
            <a:ext cx="100584" cy="1005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47304" y="1325880"/>
            <a:ext cx="100584" cy="10058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316736"/>
            <a:ext cx="30540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6C8CC"/>
                </a:solidFill>
                <a:latin typeface="Consolas"/>
              </a:rPr>
              <a:t>next-token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1" y="1609344"/>
            <a:ext cx="363931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6C8CC"/>
                </a:solidFill>
                <a:latin typeface="Consolas"/>
              </a:rPr>
              <a:t>prompt &gt;  The capital of France 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0A8CC"/>
                </a:solidFill>
                <a:latin typeface="Consolas"/>
              </a:rPr>
              <a:t>  Paris      0.94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6C8CC"/>
                </a:solidFill>
                <a:latin typeface="Consolas"/>
              </a:rPr>
              <a:t>  a city     0.03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6C8CC"/>
                </a:solidFill>
                <a:latin typeface="Consolas"/>
              </a:rPr>
              <a:t>  located    0.01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5216" y="3246120"/>
            <a:ext cx="348996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575303"/>
            <a:ext cx="2977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Base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32504"/>
            <a:ext cx="297789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8DADE"/>
                </a:solidFill>
                <a:latin typeface="Klavika Regular"/>
              </a:rPr>
              <a:t>Raw next-token predictors. Great starting point for training, awkward to chat with.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949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49496" y="3246120"/>
            <a:ext cx="348996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5528" y="3575303"/>
            <a:ext cx="2977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Instruct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528" y="4032504"/>
            <a:ext cx="297789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8DADE"/>
                </a:solidFill>
                <a:latin typeface="Klavika Regular"/>
              </a:rPr>
              <a:t>Further trained to follow instructions and hold a conversation.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377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3776" y="3246120"/>
            <a:ext cx="348996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9808" y="3575303"/>
            <a:ext cx="2977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Generalists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9808" y="4032504"/>
            <a:ext cx="297789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8DADE"/>
                </a:solidFill>
                <a:latin typeface="Klavika Regular"/>
              </a:rPr>
              <a:t>Llama, Qwen, Mistral on Hugging Face know a bit of everything, your job in particular: 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What is fine-tuning? Why do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8DADE"/>
                </a:solidFill>
                <a:latin typeface="Klavika Regular"/>
              </a:rPr>
              <a:t>Take a pre-trained model and keep training it a little more on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YOUR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data, so it adapts to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YOUR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task, domain, tone or format.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07340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Speak in a specific style or persona: your brand, your support agent.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842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408426" y="2148840"/>
            <a:ext cx="254889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6170" y="2441448"/>
            <a:ext cx="384048" cy="384048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6170" y="2971800"/>
            <a:ext cx="207340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6170" y="3282696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Know legal, medical, or your own product documentation.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1636" y="2148840"/>
            <a:ext cx="254889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69379" y="244144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79" y="2971800"/>
            <a:ext cx="207340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79" y="3282696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Always return JSON. Always cite sources. Every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484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5484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259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2590" y="2971800"/>
            <a:ext cx="207340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2590" y="3282696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Do one narrow task extremely well, cheaply, on a small model.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4315968"/>
            <a:ext cx="11018520" cy="84124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85216" y="4315968"/>
            <a:ext cx="64008" cy="84124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10378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Klavika Bold"/>
              </a:rPr>
              <a:t>Often cheaper and more reliable</a:t>
            </a:r>
            <a:r>
              <a:rPr sz="1450" b="0">
                <a:solidFill>
                  <a:srgbClr val="D8DADE"/>
                </a:solidFill>
                <a:latin typeface="Klavika Regular"/>
              </a:rPr>
              <a:t> than stuffing everything into a giant prompt, or paying for an even bigger model. </a:t>
            </a:r>
            <a:r>
              <a:rPr sz="1450" b="1">
                <a:solidFill>
                  <a:srgbClr val="00A8CC"/>
                </a:solidFill>
                <a:latin typeface="Klavika Bold"/>
              </a:rPr>
              <a:t>It lets a small model punch above its weight.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LoRA and QLoRA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8DADE"/>
                </a:solidFill>
                <a:latin typeface="Klavika Regular"/>
              </a:rPr>
              <a:t>Parameter-efficient fine-tuning: freeze the giant model, train a tiny adapter.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1920240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212848"/>
            <a:ext cx="105156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536" y="2249424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Low-Rank Adaptation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48371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Inject small low-rank matrices into chosen layers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Original weights stay frozen, only adapters train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Trainable parameters drop by orders of magnitude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54496" y="1920240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0528" y="2212848"/>
            <a:ext cx="105156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QLoRA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1816" y="2249424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Quantized Low-Rank 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97480"/>
            <a:ext cx="48371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Everything LoRA does, plus a 4-bit base model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Cuts VRAM again, so bigger models fit on one GPU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The usual answer to an out-of-memory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85216" y="4572000"/>
            <a:ext cx="64008" cy="11887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773168"/>
            <a:ext cx="2941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F26522"/>
                </a:solidFill>
                <a:latin typeface="Klavika Bold"/>
              </a:rPr>
              <a:t>~0.1%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321808"/>
            <a:ext cx="2941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of parameters trained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949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49496" y="4572000"/>
            <a:ext cx="64008" cy="11887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3816" y="4773168"/>
            <a:ext cx="2941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7C97"/>
                </a:solidFill>
                <a:latin typeface="Klavika Bold"/>
              </a:rPr>
              <a:t>4-bit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3816" y="5321808"/>
            <a:ext cx="2941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base weights under QLoRA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377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113776" y="4572000"/>
            <a:ext cx="64008" cy="11887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8096" y="4773168"/>
            <a:ext cx="2941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ED1C24"/>
                </a:solidFill>
                <a:latin typeface="Klavika Bold"/>
              </a:rPr>
              <a:t>Comparable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8096" y="5321808"/>
            <a:ext cx="2941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quality to full fine-tuning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Training methodology: SFT and GRPO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8DADE"/>
                </a:solidFill>
                <a:latin typeface="Klavika Regular"/>
              </a:rPr>
              <a:t>Two ways to tell a model it did well. One shows the answer, the other scores attempts.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1874519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2185415"/>
            <a:ext cx="77724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SFT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2221991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Supervised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79191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Uses labelled data: prompt in, correct answer out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The model imitates the answers you supply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3630168"/>
            <a:ext cx="4800600" cy="123444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3794759"/>
            <a:ext cx="4471416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6C8CC"/>
                </a:solidFill>
                <a:latin typeface="Consolas"/>
              </a:rPr>
              <a:t>{"instruction": "Summarize in one line.",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6C8CC"/>
                </a:solidFill>
                <a:latin typeface="Consolas"/>
              </a:rPr>
              <a:t>  "input":  "&lt;article text&gt;",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00A8CC"/>
                </a:solidFill>
                <a:latin typeface="Consolas"/>
              </a:rPr>
              <a:t>  "output": "&lt;summary&gt;"}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1874519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28816" y="2185415"/>
            <a:ext cx="96012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GRPO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221991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Group Relative Policy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679191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No labelled answer needed, only a way to score one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Model generates a group of attempts and compares them</a:t>
            </a:r>
          </a:p>
        </p:txBody>
      </p:sp>
      <p:sp>
        <p:nvSpPr>
          <p:cNvPr id="16" name="Oval 15"/>
          <p:cNvSpPr/>
          <p:nvPr/>
        </p:nvSpPr>
        <p:spPr>
          <a:xfrm>
            <a:off x="6565392" y="3703320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721607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Generate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several candidate answers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4087368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4105655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Score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each with a reward function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4471416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489703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Prefer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the ones that scored above the 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The fine-tuning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618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6C8CC"/>
                </a:solidFill>
                <a:latin typeface="Klavika Regular"/>
              </a:rPr>
              <a:t>Same spine either way. The data step is what differs.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788920"/>
            <a:ext cx="21031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278892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953512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Pick 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169163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Start small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98064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27248" y="1965960"/>
            <a:ext cx="27889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27248" y="196596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2130552"/>
            <a:ext cx="2377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SFT: pick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423160"/>
            <a:ext cx="237743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Hugging Face, public sets, or upload your 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3611880"/>
            <a:ext cx="27889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27248" y="3611880"/>
            <a:ext cx="54864" cy="9601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4" y="3776472"/>
            <a:ext cx="2377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GRPO: generate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4069080"/>
            <a:ext cx="237743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Define the reward function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35040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788920"/>
            <a:ext cx="182880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92240" y="2788920"/>
            <a:ext cx="54864" cy="9601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9535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Choose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246120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LoRA or QLoRA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30768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32520" y="2788920"/>
            <a:ext cx="1207008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732520" y="278892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2953512"/>
            <a:ext cx="7955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Train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49256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41864" y="2788920"/>
            <a:ext cx="1261872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0341864" y="2788920"/>
            <a:ext cx="54864" cy="9601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2953512"/>
            <a:ext cx="8503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Evaluate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892040"/>
            <a:ext cx="11018520" cy="10058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85216" y="4892040"/>
            <a:ext cx="64008" cy="100584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056631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Training knobs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422392"/>
            <a:ext cx="24620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learning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1014" y="5422392"/>
            <a:ext cx="24620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number of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5916" y="5422392"/>
            <a:ext cx="24620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time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0818" y="5422392"/>
            <a:ext cx="24620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max sequence length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Unsloth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61872"/>
            <a:ext cx="74066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8DADE"/>
                </a:solidFill>
                <a:latin typeface="Klavika Regular"/>
              </a:rPr>
              <a:t>An open-source, no-code framework and UI for training, running and exporting LLMs </a:t>
            </a:r>
            <a:r>
              <a:rPr sz="1600" b="1">
                <a:solidFill>
                  <a:srgbClr val="FFFFFF"/>
                </a:solidFill>
                <a:latin typeface="Klavika Bold"/>
              </a:rPr>
              <a:t>locally</a:t>
            </a:r>
            <a:r>
              <a:rPr sz="1600" b="0">
                <a:solidFill>
                  <a:srgbClr val="D8DADE"/>
                </a:solidFill>
                <a:latin typeface="Klavika Regular"/>
              </a:rPr>
              <a:t>, tuned for speed, memory efficiency and accessibility.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Regular"/>
              </a:rPr>
              <a:t>It sits as an optimized layer on top of Hugging Face Transformers, so your existing workflow still applies.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278892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72968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LoRA and QLoRA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13048"/>
            <a:ext cx="207340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built in, no glue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842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408426" y="2788920"/>
            <a:ext cx="254889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6170" y="3172968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Quantization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6170" y="3813048"/>
            <a:ext cx="207340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4-bit and 8-bit paths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1636" y="2788920"/>
            <a:ext cx="254889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9379" y="3172968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Optimized kernels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79" y="3813048"/>
            <a:ext cx="207340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faster attention and MLP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484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054846" y="278892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2590" y="3172968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Consumer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2590" y="3813048"/>
            <a:ext cx="207340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one GPU is enough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4754880"/>
            <a:ext cx="11018520" cy="10058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5216" y="4754880"/>
            <a:ext cx="64008" cy="100584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93776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Klavika Bold"/>
              </a:rPr>
              <a:t>In this workshop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D8DADE"/>
                </a:solidFill>
                <a:latin typeface="Klavika Regular"/>
              </a:rPr>
              <a:t>Unsloth is what makes a GRPO run finish inside a session slot instead of overnight.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Part 2: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800" b="0">
                <a:solidFill>
                  <a:srgbClr val="C6C8CC"/>
                </a:solidFill>
                <a:latin typeface="Klavika Light"/>
              </a:rPr>
              <a:t>A game of Sudoku, an AMD Radeon GPU, and a notebook you drive yourself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A game of Sudoku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32588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8DADE"/>
                </a:solidFill>
                <a:latin typeface="Klavika Regular"/>
              </a:rPr>
              <a:t>Sudoku means </a:t>
            </a:r>
            <a:r>
              <a:rPr sz="1700" b="1">
                <a:solidFill>
                  <a:srgbClr val="FFFFFF"/>
                </a:solidFill>
                <a:latin typeface="Klavika Bold"/>
              </a:rPr>
              <a:t>“single number”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in Japanese.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A logic puzzle: place digits 1 to 9 so every row, every column and every 3x3 box contains each digit exactly once.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92608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2926080"/>
            <a:ext cx="64008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07238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26522"/>
                </a:solidFill>
                <a:latin typeface="Klavika Bold"/>
              </a:rPr>
              <a:t>Verifiable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3649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A board is right or wrong. No human judge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393192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5216" y="3931920"/>
            <a:ext cx="64008" cy="86868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07822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07C97"/>
                </a:solidFill>
                <a:latin typeface="Klavika Bold"/>
              </a:rPr>
              <a:t>Reward-friendly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708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Score partial credit per correct cell, row and box.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493776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5216" y="4937760"/>
            <a:ext cx="64008" cy="8686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08406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D1C24"/>
                </a:solidFill>
                <a:latin typeface="Klavika Bold"/>
              </a:rPr>
              <a:t>Genuinely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37667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A general model gets it wrong. Improvement is visible.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280160"/>
            <a:ext cx="3697968" cy="3950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515088" cy="3767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79" y="5349240"/>
            <a:ext cx="41056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Our training task: an easy grid, scored cell by cell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AMD Unsloth fine-tuning workshop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17320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85216" y="1417320"/>
            <a:ext cx="64008" cy="10241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709928"/>
            <a:ext cx="420624" cy="42062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16184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Open the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965960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00A8CC"/>
                </a:solidFill>
                <a:latin typeface="Consolas"/>
              </a:rPr>
              <a:t>notebooks.amd.com/ind-dev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587752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5216" y="2587752"/>
            <a:ext cx="64008" cy="102412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2880360"/>
            <a:ext cx="420624" cy="42062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7889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Enter the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313639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00A8CC"/>
                </a:solidFill>
                <a:latin typeface="Consolas"/>
              </a:rPr>
              <a:t>RadeonUnslothTuning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3758184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85216" y="3758184"/>
            <a:ext cx="64008" cy="102412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050792"/>
            <a:ext cx="420624" cy="42062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9593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Pick the Unsloth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306824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Lands you on an AMD Radeon GPU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4983480"/>
            <a:ext cx="4892040" cy="7772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5216" y="4983480"/>
            <a:ext cx="64008" cy="77724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12978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Klavika Bold"/>
              </a:rPr>
              <a:t>It is a real GPU, not a 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42239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Hosted Jupyter, nothing to install locally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325880"/>
            <a:ext cx="5797296" cy="4015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7320"/>
            <a:ext cx="5614416" cy="38325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GPU visibility and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Open a terminal inside Jupyter and confirm the GPU is really there before you train.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37360"/>
            <a:ext cx="3246120" cy="118872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874519"/>
            <a:ext cx="100584" cy="10058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74519"/>
            <a:ext cx="100584" cy="1005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874519"/>
            <a:ext cx="100584" cy="10058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2456" y="186537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6C8CC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57984"/>
            <a:ext cx="29169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00A8CC"/>
                </a:solidFill>
                <a:latin typeface="Consolas"/>
              </a:rPr>
              <a:t>$ rocm-smi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00A8CC"/>
                </a:solidFill>
                <a:latin typeface="Consolas"/>
              </a:rPr>
              <a:t>$ rocminfo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3127248"/>
            <a:ext cx="3246120" cy="80467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5216" y="3127248"/>
            <a:ext cx="64008" cy="80467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25526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26522"/>
                </a:solidFill>
                <a:latin typeface="Consolas"/>
              </a:rPr>
              <a:t>rocm-smi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529584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D8DADE"/>
                </a:solidFill>
                <a:latin typeface="Klavika Regular"/>
              </a:rPr>
              <a:t>Live view: temperature, power, clocks, VRAM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059935"/>
            <a:ext cx="3246120" cy="80467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85216" y="4059935"/>
            <a:ext cx="64008" cy="804672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187951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007C97"/>
                </a:solidFill>
                <a:latin typeface="Consolas"/>
              </a:rPr>
              <a:t>rocminfo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6227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D8DADE"/>
                </a:solidFill>
                <a:latin typeface="Klavika Regular"/>
              </a:rPr>
              <a:t>Static view: agents, ROCm version, GPU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5047488"/>
            <a:ext cx="3246120" cy="7315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5216" y="5047488"/>
            <a:ext cx="64008" cy="7315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17550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GPU busy at 0% while a cell runs? It is not 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1508760"/>
            <a:ext cx="7626096" cy="26432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00200"/>
            <a:ext cx="7443216" cy="246034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69080" y="4187952"/>
            <a:ext cx="278628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4279392"/>
            <a:ext cx="2603402" cy="1645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6600" y="4370832"/>
            <a:ext cx="45171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rocminfo confirms the ROCm runtime version and every agent the host exposes, GPU and CPU alike.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Driving the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Run cells top to bottom. The first model load is the slow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37360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1737360"/>
            <a:ext cx="64008" cy="9144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6537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Watch the marker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0A8CC"/>
                </a:solidFill>
                <a:latin typeface="Consolas"/>
              </a:rPr>
              <a:t>In [*]</a:t>
            </a:r>
            <a:r>
              <a:rPr sz="1200" b="0">
                <a:solidFill>
                  <a:srgbClr val="D8DADE"/>
                </a:solidFill>
                <a:latin typeface="Klavika Regular"/>
              </a:rPr>
              <a:t> means still running, </a:t>
            </a:r>
            <a:r>
              <a:rPr sz="1200" b="0">
                <a:solidFill>
                  <a:srgbClr val="00A8CC"/>
                </a:solidFill>
                <a:latin typeface="Consolas"/>
              </a:rPr>
              <a:t>In [7]</a:t>
            </a:r>
            <a:r>
              <a:rPr sz="1200" b="0">
                <a:solidFill>
                  <a:srgbClr val="D8DADE"/>
                </a:solidFill>
                <a:latin typeface="Klavika Regular"/>
              </a:rPr>
              <a:t> means 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779776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5216" y="2779776"/>
            <a:ext cx="64008" cy="91440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0779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Do not skip ahead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0400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Later cells depend on variables the earlier ones define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3822191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5216" y="3822191"/>
            <a:ext cx="64008" cy="9144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50207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Keep an eye on the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242816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Second terminal tab running </a:t>
            </a:r>
            <a:r>
              <a:rPr sz="1200" b="0">
                <a:solidFill>
                  <a:srgbClr val="00A8CC"/>
                </a:solidFill>
                <a:latin typeface="Consolas"/>
              </a:rPr>
              <a:t>rocm-smi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4864608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4864608"/>
            <a:ext cx="64008" cy="9144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99262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Cold start is normal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285232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First load pulls weights. Retry a timed-out chat, the warm model is fast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600200"/>
            <a:ext cx="6025896" cy="4394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91640"/>
            <a:ext cx="5843016" cy="42112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Fine-tuning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Fifteen GRPO steps on a Radeon GPU, and the reward curve moves.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719072"/>
            <a:ext cx="1417320" cy="310896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>
                <a:solidFill>
                  <a:srgbClr val="FFFFFF"/>
                </a:solidFill>
                <a:latin typeface="Klavika Bold"/>
              </a:rPr>
              <a:t>DEMO: 15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2121408"/>
            <a:ext cx="6172200" cy="3208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212848"/>
            <a:ext cx="5989320" cy="3025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" y="5504688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Per-step training loss and reward, straight from the notebook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2121408"/>
            <a:ext cx="4882896" cy="16443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12848"/>
            <a:ext cx="4700016" cy="14615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3840480"/>
            <a:ext cx="47000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Final board produced by the tuned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4315968"/>
            <a:ext cx="4791456" cy="14630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12280" y="4315968"/>
            <a:ext cx="64008" cy="146304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449884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What to look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818888"/>
            <a:ext cx="42976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>
                <a:solidFill>
                  <a:srgbClr val="00A8CC"/>
                </a:solidFill>
                <a:latin typeface="Klavika Regular"/>
              </a:rPr>
              <a:t>•  </a:t>
            </a:r>
            <a:r>
              <a:rPr sz="1200">
                <a:solidFill>
                  <a:srgbClr val="D8DADE"/>
                </a:solidFill>
                <a:latin typeface="Klavika Regular"/>
              </a:rPr>
              <a:t>Reward trending up, not the absolute value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>
                <a:solidFill>
                  <a:srgbClr val="00A8CC"/>
                </a:solidFill>
                <a:latin typeface="Klavika Regular"/>
              </a:rPr>
              <a:t>•  </a:t>
            </a:r>
            <a:r>
              <a:rPr sz="1200">
                <a:solidFill>
                  <a:srgbClr val="D8DADE"/>
                </a:solidFill>
                <a:latin typeface="Klavika Regular"/>
              </a:rPr>
              <a:t>A structurally valid board, no repeated digits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10607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SYMPTOM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65776" y="10607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85216" y="1353312"/>
            <a:ext cx="64008" cy="65836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54480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First chat response times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5776" y="1554480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Cold model load. Retry, the warm model answers fast.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2157984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5216" y="2157984"/>
            <a:ext cx="64008" cy="65836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59152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Training data format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2359152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Check the Alpaca fields: instruction, input,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962656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85216" y="2962656"/>
            <a:ext cx="64008" cy="65836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63824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Out of memory during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163824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Smaller model, enable QLoRA 4-bit, lower batch size or sequence length.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3767328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85216" y="3767328"/>
            <a:ext cx="64008" cy="65836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968496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Loss not decreasing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3968496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Raise the learning rate a little, train more steps, re-check the dataset format.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4572000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85216" y="4572000"/>
            <a:ext cx="64008" cy="65836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773168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Cell never completes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4773168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Run rocm-smi. GPU use drops to zero when training is actually finished.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5376672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85216" y="5376672"/>
            <a:ext cx="64008" cy="65836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577840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Need a first experiment idea?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5577840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Start with SFT on a Hugging Face set, then GRPO on math where answers are checkable.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Learn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17320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85216" y="1417320"/>
            <a:ext cx="64008" cy="694944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63677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Unsloth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1335" y="163677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github.com/unslothai/unsloth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0456" y="16459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The framework itself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258568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5216" y="2258568"/>
            <a:ext cx="64008" cy="694944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4780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Unsloth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1335" y="2478024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docs.unsloth.ai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2487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Guides, notebooks, supported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3099816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85216" y="3099816"/>
            <a:ext cx="64008" cy="69494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3192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LoRA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3319272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arxiv.org/abs/2106.09685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332841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Low-Rank Adaptation, Hu et 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941064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5216" y="3941064"/>
            <a:ext cx="64008" cy="694944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160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QLoRA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5" y="416052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arxiv.org/abs/2305.14314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41696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4-bit finetuning, Dettmers et 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" y="4782312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85216" y="4782312"/>
            <a:ext cx="64008" cy="694944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0017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GRPO / DeepSeekMath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1335" y="500176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arxiv.org/abs/2402.03300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50109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Where GRPO is introduced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5623560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85216" y="5623560"/>
            <a:ext cx="64008" cy="69494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84301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Workshop notebook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1335" y="584301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notebooks.amd.com/ind-dev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5852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Password: RadeonUnslothTuning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Klavika Bold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Klavika Regular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.pptx" id="{EB850784-AF90-4435-997D-B71DAC8406C3}" vid="{37C37173-7515-49DE-99BC-ABA7A3D2FA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Klavika 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Klavika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Klavika 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Klavika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1,"isValidatorEnabled":false,"isLocked":false,"elementsMetadata":[],"slideId":"637629098780808397","enableDocumentContentUpdater":true,"version":"2.0"}]]></TemplafySlideTemplateConfiguration>
</file>

<file path=customXml/item6.xml><?xml version="1.0" encoding="utf-8"?>
<TemplafySlideTemplateConfiguration><![CDATA[{"slideVersion":1,"isValidatorEnabled":false,"isLocked":false,"elementsMetadata":[],"slideId":"637629098780861368","enableDocumentContentUpdater":true,"version":"2.0"}]]></TemplafySlideTemplateConfiguration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8.xml><?xml version="1.0" encoding="utf-8"?>
<TemplafySlideTemplateConfiguration><![CDATA[{"slideVersion":1,"isValidatorEnabled":false,"isLocked":false,"elementsMetadata":[],"slideId":"637629098780855834","enableDocumentContentUpdater":tru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1,"isValidatorEnabled":false,"isLocked":false,"elementsMetadata":[],"slideId":"637629098780805369","enableDocumentContentUpdater":true,"version":"2.0"}]]></TemplafySlideTemplateConfiguration>
</file>

<file path=customXml/item13.xml><?xml version="1.0" encoding="utf-8"?>
<TemplafySlideTemplateConfiguration><![CDATA[{"slideVersion":1,"isValidatorEnabled":false,"isLocked":false,"elementsMetadata":[],"slideId":"637629098780929168","enableDocumentContentUpdater":true,"version":"2.0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],"slideId":"637629098780931945","enableDocumentContentUpdater":true,"version":"2.0"}]]></TemplafySlideTemplateConfiguration>
</file>

<file path=customXml/item18.xml><?xml version="1.0" encoding="utf-8"?>
<TemplafySlideTemplateConfiguration><![CDATA[{"slideVersion":1,"isValidatorEnabled":false,"isLocked":false,"elementsMetadata":[],"slideId":"637629098780942318","enableDocumentContentUpdater":true,"version":"2.0"}]]></TemplafySlideTemplateConfiguration>
</file>

<file path=customXml/item19.xml><?xml version="1.0" encoding="utf-8"?>
<TemplafySlideTemplateConfiguration><![CDATA[{"slideVersion":1,"isValidatorEnabled":false,"isLocked":false,"elementsMetadata":[],"slideId":"637629098780868991","enableDocumentContentUpdater":true,"version":"2.0"}]]></TemplafySlideTemplateConfiguration>
</file>

<file path=customXml/item20.xml><?xml version="1.0" encoding="utf-8"?>
<TemplafySlideTemplateConfiguration><![CDATA[{"slideVersion":1,"isValidatorEnabled":false,"isLocked":false,"elementsMetadata":[],"slideId":"637629098780874432","enableDocumentContentUpdater":true,"version":"2.0"}]]></TemplafySlideTemplateConfiguration>
</file>

<file path=customXml/item21.xml><?xml version="1.0" encoding="utf-8"?>
<TemplafySlideTemplateConfiguration><![CDATA[{"slideVersion":1,"isValidatorEnabled":false,"isLocked":false,"elementsMetadata":[],"slideId":"637629098780933985","enableDocumentContentUpdater":true,"version":"2.0"}]]></TemplafySlideTemplateConfiguration>
</file>

<file path=customXml/item22.xml><?xml version="1.0" encoding="utf-8"?>
<TemplafySlideTemplateConfiguration><![CDATA[{"slideVersion":1,"isValidatorEnabled":false,"isLocked":false,"elementsMetadata":[],"slideId":"637629098780938389","enableDocumentContentUpdater":tru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TemplateConfiguration><![CDATA[{"slideVersion":1,"isValidatorEnabled":false,"isLocked":false,"elementsMetadata":[],"slideId":"637629098780818133","enableDocumentContentUpdater":true,"version":"2.0"}]]></TemplafySlideTemplateConfiguration>
</file>

<file path=customXml/item27.xml><?xml version="1.0" encoding="utf-8"?>
<TemplafySlideTemplateConfiguration><![CDATA[{"slideVersion":1,"isValidatorEnabled":false,"isLocked":false,"elementsMetadata":[],"slideId":"637629098780820470","enableDocumentContentUpdater":true,"version":"2.0"}]]></TemplafySlideTemplateConfiguration>
</file>

<file path=customXml/item28.xml><?xml version="1.0" encoding="utf-8"?>
<TemplafySlideTemplateConfiguration><![CDATA[{"slideVersion":1,"isValidatorEnabled":false,"isLocked":false,"elementsMetadata":[],"slideId":"637629098780810453","enableDocumentContentUpdater":true,"version":"2.0"}]]></TemplafySlideTemplate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slideVersion":1,"isValidatorEnabled":false,"isLocked":false,"elementsMetadata":[],"slideId":"637629098780898812","enableDocumentContentUpdater":true,"version":"2.0"}]]></TemplafySlideTemplateConfiguration>
</file>

<file path=customXml/item35.xml><?xml version="1.0" encoding="utf-8"?>
<TemplafySlideTemplateConfiguration><![CDATA[{"slideVersion":1,"isValidatorEnabled":false,"isLocked":false,"elementsMetadata":[],"slideId":"637629098780882757","enableDocumentContentUpdater":true,"version":"2.0"}]]></TemplafySlideTemplateConfiguration>
</file>

<file path=customXml/item36.xml><?xml version="1.0" encoding="utf-8"?>
<TemplafySlideTemplateConfiguration><![CDATA[{"slideVersion":1,"isValidatorEnabled":false,"isLocked":false,"elementsMetadata":[],"slideId":"637629098780802172","enableDocumentContentUpdater":true,"version":"2.0"}]]></TemplafySlideTemplateConfiguration>
</file>

<file path=customXml/item37.xml><?xml version="1.0" encoding="utf-8"?>
<TemplafySlideTemplateConfiguration><![CDATA[{"slideVersion":1,"isValidatorEnabled":false,"isLocked":false,"elementsMetadata":[],"slideId":"637629098780938070","enableDocumentContentUpdater":true,"version":"2.0"}]]></TemplafySlideTemplate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FormConfiguration><![CDATA[{"formFields":[],"formDataEntries":[]}]]></TemplafySlideFormConfiguration>
</file>

<file path=customXml/item40.xml><?xml version="1.0" encoding="utf-8"?>
<TemplafySlideTemplateConfiguration><![CDATA[{"slideVersion":1,"isValidatorEnabled":false,"isLocked":false,"elementsMetadata":[],"slideId":"637629098780815282","enableDocumentContentUpdater":true,"version":"2.0"}]]></TemplafySlideTemplateConfiguration>
</file>

<file path=customXml/item41.xml><?xml version="1.0" encoding="utf-8"?>
<TemplafySlideTemplateConfiguration><![CDATA[{"slideVersion":1,"isValidatorEnabled":false,"isLocked":false,"elementsMetadata":[],"slideId":"637629098780863185","enableDocumentContentUpdater":true,"version":"2.0"}]]></TemplafySlideTemplateConfiguration>
</file>

<file path=customXml/item4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43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44.xml><?xml version="1.0" encoding="utf-8"?>
<TemplafySlideTemplateConfiguration><![CDATA[{"slideVersion":1,"isValidatorEnabled":false,"isLocked":false,"elementsMetadata":[],"slideId":"637629098780819298","enableDocumentContentUpdater":true,"version":"2.0"}]]></TemplafySlideTemplateConfiguration>
</file>

<file path=customXml/item45.xml><?xml version="1.0" encoding="utf-8"?>
<TemplafySlideFormConfiguration><![CDATA[{"formFields":[],"formDataEntries":[]}]]></TemplafySlideForm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TemplafySlideTemplateConfiguration><![CDATA[{"slideVersion":1,"isValidatorEnabled":false,"isLocked":false,"elementsMetadata":[],"slideId":"637629098780864969","enableDocumentContentUpdater":true,"version":"2.0"}]]></TemplafySlideTemplateConfiguration>
</file>

<file path=customXml/item48.xml><?xml version="1.0" encoding="utf-8"?>
<TemplafySlideTemplateConfiguration><![CDATA[{"slideVersion":1,"isValidatorEnabled":false,"isLocked":false,"elementsMetadata":[],"slideId":"637629098780944294","enableDocumentContentUpdater":true,"version":"2.0"}]]></TemplafySlideTemplateConfiguration>
</file>

<file path=customXml/item49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50.xml><?xml version="1.0" encoding="utf-8"?>
<TemplafySlideFormConfiguration><![CDATA[{"formFields":[],"formDataEntries":[]}]]></TemplafySlideFormConfiguration>
</file>

<file path=customXml/item51.xml><?xml version="1.0" encoding="utf-8"?>
<TemplafySlideTemplateConfiguration><![CDATA[{"slideVersion":1,"isValidatorEnabled":false,"isLocked":false,"elementsMetadata":[],"slideId":"637629098780891892","enableDocumentContentUpdater":true,"version":"2.0"}]]></TemplafySlideTemplateConfiguration>
</file>

<file path=customXml/item52.xml><?xml version="1.0" encoding="utf-8"?>
<TemplafySlideTemplateConfiguration><![CDATA[{"slideVersion":1,"isValidatorEnabled":false,"isLocked":false,"elementsMetadata":[],"slideId":"637629098780940360","enableDocumentContentUpdater":true,"version":"2.0"}]]></TemplafySlideTemplateConfiguration>
</file>

<file path=customXml/item53.xml><?xml version="1.0" encoding="utf-8"?>
<TemplafySlideTemplateConfiguration><![CDATA[{"slideVersion":1,"isValidatorEnabled":false,"isLocked":false,"elementsMetadata":[],"slideId":"637629098780858672","enableDocumentContentUpdater":true,"version":"2.0"}]]></TemplafySlideTemplate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FormConfiguration><![CDATA[{"formFields":[],"formDataEntries":[]}]]></TemplafySlideFormConfiguration>
</file>

<file path=customXml/item56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7.xml><?xml version="1.0" encoding="utf-8"?>
<TemplafySlideTemplateConfiguration><![CDATA[{"slideVersion":1,"isValidatorEnabled":false,"isLocked":false,"elementsMetadata":[],"slideId":"637629098780935963","enableDocumentContentUpdater":true,"version":"2.0"}]]></TemplafySlideTemplateConfiguration>
</file>

<file path=customXml/item58.xml><?xml version="1.0" encoding="utf-8"?>
<TemplafySlideFormConfiguration><![CDATA[{"formFields":[],"formDataEntries":[]}]]></TemplafySlideFormConfiguration>
</file>

<file path=customXml/item59.xml><?xml version="1.0" encoding="utf-8"?>
<TemplafySlideFormConfiguration><![CDATA[{"formFields":[],"formDataEntries":[]}]]></TemplafySlideFormConfiguration>
</file>

<file path=customXml/item60.xml><?xml version="1.0" encoding="utf-8"?>
<TemplafySlideTemplateConfiguration><![CDATA[{"slideVersion":1,"isValidatorEnabled":false,"isLocked":false,"elementsMetadata":[],"slideId":"637629098780812520","enableDocumentContentUpdater":true,"version":"2.0"}]]></TemplafySlideTemplateConfiguration>
</file>

<file path=customXml/item6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D719615-E8C3-42D3-B19D-076A1FC4620D}">
  <ds:schemaRefs/>
</ds:datastoreItem>
</file>

<file path=customXml/itemProps2.xml><?xml version="1.0" encoding="utf-8"?>
<ds:datastoreItem xmlns:ds="http://schemas.openxmlformats.org/officeDocument/2006/customXml" ds:itemID="{D5DFDA8F-B725-4CD6-A843-7349EA123794}">
  <ds:schemaRefs/>
</ds:datastoreItem>
</file>

<file path=customXml/itemProps3.xml><?xml version="1.0" encoding="utf-8"?>
<ds:datastoreItem xmlns:ds="http://schemas.openxmlformats.org/officeDocument/2006/customXml" ds:itemID="{CBB24767-B696-4303-95AD-C1F5811D028F}">
  <ds:schemaRefs/>
</ds:datastoreItem>
</file>

<file path=customXml/itemProps4.xml><?xml version="1.0" encoding="utf-8"?>
<ds:datastoreItem xmlns:ds="http://schemas.openxmlformats.org/officeDocument/2006/customXml" ds:itemID="{2EF89111-4289-441B-97BD-A2D8E126532F}">
  <ds:schemaRefs/>
</ds:datastoreItem>
</file>

<file path=customXml/itemProps5.xml><?xml version="1.0" encoding="utf-8"?>
<ds:datastoreItem xmlns:ds="http://schemas.openxmlformats.org/officeDocument/2006/customXml" ds:itemID="{1BCEDA00-0BCE-4F19-A380-8AED6A66E762}">
  <ds:schemaRefs/>
</ds:datastoreItem>
</file>

<file path=customXml/itemProps6.xml><?xml version="1.0" encoding="utf-8"?>
<ds:datastoreItem xmlns:ds="http://schemas.openxmlformats.org/officeDocument/2006/customXml" ds:itemID="{921C0A0B-EE13-4908-9C41-3E7EDF526068}">
  <ds:schemaRefs/>
</ds:datastoreItem>
</file>

<file path=customXml/itemProps7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8.xml><?xml version="1.0" encoding="utf-8"?>
<ds:datastoreItem xmlns:ds="http://schemas.openxmlformats.org/officeDocument/2006/customXml" ds:itemID="{1669606D-CDD4-43E6-985A-81776140D176}">
  <ds:schemaRefs/>
</ds:datastoreItem>
</file>

<file path=customXml/itemProps9.xml><?xml version="1.0" encoding="utf-8"?>
<ds:datastoreItem xmlns:ds="http://schemas.openxmlformats.org/officeDocument/2006/customXml" ds:itemID="{162E1B2B-387B-423C-8FB0-129D0EE7DD83}">
  <ds:schemaRefs/>
</ds:datastoreItem>
</file>

<file path=customXml/itemProps10.xml><?xml version="1.0" encoding="utf-8"?>
<ds:datastoreItem xmlns:ds="http://schemas.openxmlformats.org/officeDocument/2006/customXml" ds:itemID="{25EDB0A7-1862-4F58-81F8-88FFEB27A481}">
  <ds:schemaRefs/>
</ds:datastoreItem>
</file>

<file path=customXml/itemProps11.xml><?xml version="1.0" encoding="utf-8"?>
<ds:datastoreItem xmlns:ds="http://schemas.openxmlformats.org/officeDocument/2006/customXml" ds:itemID="{C67D3CDE-4F82-4339-9EA4-1EEE33A61958}">
  <ds:schemaRefs/>
</ds:datastoreItem>
</file>

<file path=customXml/itemProps12.xml><?xml version="1.0" encoding="utf-8"?>
<ds:datastoreItem xmlns:ds="http://schemas.openxmlformats.org/officeDocument/2006/customXml" ds:itemID="{95AE8F77-448C-4B7C-8669-DC6D4241F9CE}">
  <ds:schemaRefs/>
</ds:datastoreItem>
</file>

<file path=customXml/itemProps13.xml><?xml version="1.0" encoding="utf-8"?>
<ds:datastoreItem xmlns:ds="http://schemas.openxmlformats.org/officeDocument/2006/customXml" ds:itemID="{0C0AD6D7-0AAB-4CF7-9869-E9E315BAF875}">
  <ds:schemaRefs/>
</ds:datastoreItem>
</file>

<file path=customXml/itemProps14.xml><?xml version="1.0" encoding="utf-8"?>
<ds:datastoreItem xmlns:ds="http://schemas.openxmlformats.org/officeDocument/2006/customXml" ds:itemID="{DDCC6A1B-7673-40E9-AC3E-C0D8F2784A83}">
  <ds:schemaRefs/>
</ds:datastoreItem>
</file>

<file path=customXml/itemProps15.xml><?xml version="1.0" encoding="utf-8"?>
<ds:datastoreItem xmlns:ds="http://schemas.openxmlformats.org/officeDocument/2006/customXml" ds:itemID="{75BD4175-2A6A-457D-B03C-89D272FF4835}">
  <ds:schemaRefs/>
</ds:datastoreItem>
</file>

<file path=customXml/itemProps16.xml><?xml version="1.0" encoding="utf-8"?>
<ds:datastoreItem xmlns:ds="http://schemas.openxmlformats.org/officeDocument/2006/customXml" ds:itemID="{2A1B10AF-5356-4D21-9E16-9423E20937FC}">
  <ds:schemaRefs/>
</ds:datastoreItem>
</file>

<file path=customXml/itemProps17.xml><?xml version="1.0" encoding="utf-8"?>
<ds:datastoreItem xmlns:ds="http://schemas.openxmlformats.org/officeDocument/2006/customXml" ds:itemID="{CAFED163-E143-4EEB-A735-81C1226AD9B4}">
  <ds:schemaRefs/>
</ds:datastoreItem>
</file>

<file path=customXml/itemProps18.xml><?xml version="1.0" encoding="utf-8"?>
<ds:datastoreItem xmlns:ds="http://schemas.openxmlformats.org/officeDocument/2006/customXml" ds:itemID="{30338C60-725E-4230-8732-6C1737FFCF6F}">
  <ds:schemaRefs/>
</ds:datastoreItem>
</file>

<file path=customXml/itemProps19.xml><?xml version="1.0" encoding="utf-8"?>
<ds:datastoreItem xmlns:ds="http://schemas.openxmlformats.org/officeDocument/2006/customXml" ds:itemID="{AC107CF9-7144-4997-BE7D-1990BE189C9A}">
  <ds:schemaRefs/>
</ds:datastoreItem>
</file>

<file path=customXml/itemProps20.xml><?xml version="1.0" encoding="utf-8"?>
<ds:datastoreItem xmlns:ds="http://schemas.openxmlformats.org/officeDocument/2006/customXml" ds:itemID="{2BC0DC1D-8D15-4194-9A1A-EDACA544CFA6}">
  <ds:schemaRefs/>
</ds:datastoreItem>
</file>

<file path=customXml/itemProps21.xml><?xml version="1.0" encoding="utf-8"?>
<ds:datastoreItem xmlns:ds="http://schemas.openxmlformats.org/officeDocument/2006/customXml" ds:itemID="{364650BF-04B4-4ADF-AE61-286BFE5AF2AD}">
  <ds:schemaRefs/>
</ds:datastoreItem>
</file>

<file path=customXml/itemProps22.xml><?xml version="1.0" encoding="utf-8"?>
<ds:datastoreItem xmlns:ds="http://schemas.openxmlformats.org/officeDocument/2006/customXml" ds:itemID="{A20E27A4-6C3C-428D-ADE7-7DC089C0CD46}">
  <ds:schemaRefs/>
</ds:datastoreItem>
</file>

<file path=customXml/itemProps23.xml><?xml version="1.0" encoding="utf-8"?>
<ds:datastoreItem xmlns:ds="http://schemas.openxmlformats.org/officeDocument/2006/customXml" ds:itemID="{8C320EF3-E45D-49A1-86A9-B0DA20C7CC04}">
  <ds:schemaRefs/>
</ds:datastoreItem>
</file>

<file path=customXml/itemProps24.xml><?xml version="1.0" encoding="utf-8"?>
<ds:datastoreItem xmlns:ds="http://schemas.openxmlformats.org/officeDocument/2006/customXml" ds:itemID="{647B6612-4C79-45CE-9A32-14C2D37B46F1}">
  <ds:schemaRefs/>
</ds:datastoreItem>
</file>

<file path=customXml/itemProps25.xml><?xml version="1.0" encoding="utf-8"?>
<ds:datastoreItem xmlns:ds="http://schemas.openxmlformats.org/officeDocument/2006/customXml" ds:itemID="{33C2836D-CD36-48F0-AE3F-D27BFE792AB7}">
  <ds:schemaRefs/>
</ds:datastoreItem>
</file>

<file path=customXml/itemProps26.xml><?xml version="1.0" encoding="utf-8"?>
<ds:datastoreItem xmlns:ds="http://schemas.openxmlformats.org/officeDocument/2006/customXml" ds:itemID="{6B831CAE-95E4-452E-B3C5-B76AAD78A52A}">
  <ds:schemaRefs/>
</ds:datastoreItem>
</file>

<file path=customXml/itemProps27.xml><?xml version="1.0" encoding="utf-8"?>
<ds:datastoreItem xmlns:ds="http://schemas.openxmlformats.org/officeDocument/2006/customXml" ds:itemID="{00BD3ED4-8ED9-4359-B43B-2C197BC490D9}">
  <ds:schemaRefs/>
</ds:datastoreItem>
</file>

<file path=customXml/itemProps28.xml><?xml version="1.0" encoding="utf-8"?>
<ds:datastoreItem xmlns:ds="http://schemas.openxmlformats.org/officeDocument/2006/customXml" ds:itemID="{915452D2-9D6B-41D9-99FD-4D1CF211FA39}">
  <ds:schemaRefs/>
</ds:datastoreItem>
</file>

<file path=customXml/itemProps29.xml><?xml version="1.0" encoding="utf-8"?>
<ds:datastoreItem xmlns:ds="http://schemas.openxmlformats.org/officeDocument/2006/customXml" ds:itemID="{08BA5A9A-BB8B-4F8E-93CD-455474EF7276}">
  <ds:schemaRefs/>
</ds:datastoreItem>
</file>

<file path=customXml/itemProps30.xml><?xml version="1.0" encoding="utf-8"?>
<ds:datastoreItem xmlns:ds="http://schemas.openxmlformats.org/officeDocument/2006/customXml" ds:itemID="{7C5C44AF-FBA1-4FF3-8C07-71728D2581FD}">
  <ds:schemaRefs/>
</ds:datastoreItem>
</file>

<file path=customXml/itemProps31.xml><?xml version="1.0" encoding="utf-8"?>
<ds:datastoreItem xmlns:ds="http://schemas.openxmlformats.org/officeDocument/2006/customXml" ds:itemID="{C5DD1971-334A-45E9-9D2B-FB6BD8AAE58A}">
  <ds:schemaRefs/>
</ds:datastoreItem>
</file>

<file path=customXml/itemProps32.xml><?xml version="1.0" encoding="utf-8"?>
<ds:datastoreItem xmlns:ds="http://schemas.openxmlformats.org/officeDocument/2006/customXml" ds:itemID="{7BAA13C3-64B7-4D7A-BA49-B0CCD43E2049}">
  <ds:schemaRefs/>
</ds:datastoreItem>
</file>

<file path=customXml/itemProps33.xml><?xml version="1.0" encoding="utf-8"?>
<ds:datastoreItem xmlns:ds="http://schemas.openxmlformats.org/officeDocument/2006/customXml" ds:itemID="{6A0018E2-8AA5-4CE6-A43B-7E69D37BB663}">
  <ds:schemaRefs/>
</ds:datastoreItem>
</file>

<file path=customXml/itemProps34.xml><?xml version="1.0" encoding="utf-8"?>
<ds:datastoreItem xmlns:ds="http://schemas.openxmlformats.org/officeDocument/2006/customXml" ds:itemID="{AD9376BE-3D3E-4586-9139-069C1651B477}">
  <ds:schemaRefs/>
</ds:datastoreItem>
</file>

<file path=customXml/itemProps35.xml><?xml version="1.0" encoding="utf-8"?>
<ds:datastoreItem xmlns:ds="http://schemas.openxmlformats.org/officeDocument/2006/customXml" ds:itemID="{5265E46D-0749-47B1-8243-3C63764C0EFC}">
  <ds:schemaRefs/>
</ds:datastoreItem>
</file>

<file path=customXml/itemProps36.xml><?xml version="1.0" encoding="utf-8"?>
<ds:datastoreItem xmlns:ds="http://schemas.openxmlformats.org/officeDocument/2006/customXml" ds:itemID="{BE3BB7DD-0C86-4747-A387-5C5D191BB970}">
  <ds:schemaRefs/>
</ds:datastoreItem>
</file>

<file path=customXml/itemProps37.xml><?xml version="1.0" encoding="utf-8"?>
<ds:datastoreItem xmlns:ds="http://schemas.openxmlformats.org/officeDocument/2006/customXml" ds:itemID="{3915BD4A-04C4-49F2-B0B9-3E7D336EC799}">
  <ds:schemaRefs/>
</ds:datastoreItem>
</file>

<file path=customXml/itemProps38.xml><?xml version="1.0" encoding="utf-8"?>
<ds:datastoreItem xmlns:ds="http://schemas.openxmlformats.org/officeDocument/2006/customXml" ds:itemID="{F82E9EAE-C942-4F71-8479-8192B35558E2}">
  <ds:schemaRefs/>
</ds:datastoreItem>
</file>

<file path=customXml/itemProps39.xml><?xml version="1.0" encoding="utf-8"?>
<ds:datastoreItem xmlns:ds="http://schemas.openxmlformats.org/officeDocument/2006/customXml" ds:itemID="{D4B66AC3-71C4-4908-9595-93E8B8D76E97}">
  <ds:schemaRefs/>
</ds:datastoreItem>
</file>

<file path=customXml/itemProps40.xml><?xml version="1.0" encoding="utf-8"?>
<ds:datastoreItem xmlns:ds="http://schemas.openxmlformats.org/officeDocument/2006/customXml" ds:itemID="{E4C8E36C-E4C3-4DF8-B9A8-546312449852}">
  <ds:schemaRefs/>
</ds:datastoreItem>
</file>

<file path=customXml/itemProps41.xml><?xml version="1.0" encoding="utf-8"?>
<ds:datastoreItem xmlns:ds="http://schemas.openxmlformats.org/officeDocument/2006/customXml" ds:itemID="{7FD631D3-3AB7-43F0-9FCE-6F65E4127A72}">
  <ds:schemaRefs/>
</ds:datastoreItem>
</file>

<file path=customXml/itemProps42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4aa919a-b200-49cb-beca-4c7e0810321e"/>
    <ds:schemaRef ds:uri="http://purl.org/dc/elements/1.1/"/>
    <ds:schemaRef ds:uri="http://schemas.microsoft.com/office/2006/metadata/properties"/>
    <ds:schemaRef ds:uri="06670dda-0291-4061-b6e0-f6c0cb392c51"/>
    <ds:schemaRef ds:uri="http://schemas.microsoft.com/office/2006/documentManagement/types"/>
    <ds:schemaRef ds:uri="http://purl.org/dc/terms/"/>
    <ds:schemaRef ds:uri="http://schemas.microsoft.com/sharepoint/v3"/>
    <ds:schemaRef ds:uri="http://www.w3.org/XML/1998/namespace"/>
  </ds:schemaRefs>
</ds:datastoreItem>
</file>

<file path=customXml/itemProps43.xml><?xml version="1.0" encoding="utf-8"?>
<ds:datastoreItem xmlns:ds="http://schemas.openxmlformats.org/officeDocument/2006/customXml" ds:itemID="{6291F803-2EF0-4E47-96D6-4796950CE6BD}">
  <ds:schemaRefs/>
</ds:datastoreItem>
</file>

<file path=customXml/itemProps44.xml><?xml version="1.0" encoding="utf-8"?>
<ds:datastoreItem xmlns:ds="http://schemas.openxmlformats.org/officeDocument/2006/customXml" ds:itemID="{56B316EE-D9D1-44C3-8C00-AE433A63C836}">
  <ds:schemaRefs/>
</ds:datastoreItem>
</file>

<file path=customXml/itemProps45.xml><?xml version="1.0" encoding="utf-8"?>
<ds:datastoreItem xmlns:ds="http://schemas.openxmlformats.org/officeDocument/2006/customXml" ds:itemID="{E3B787A2-A83F-4E87-A90A-111C61F62E24}">
  <ds:schemaRefs/>
</ds:datastoreItem>
</file>

<file path=customXml/itemProps46.xml><?xml version="1.0" encoding="utf-8"?>
<ds:datastoreItem xmlns:ds="http://schemas.openxmlformats.org/officeDocument/2006/customXml" ds:itemID="{0A230136-8CEC-4C29-A55A-F5FA83CA887A}">
  <ds:schemaRefs/>
</ds:datastoreItem>
</file>

<file path=customXml/itemProps47.xml><?xml version="1.0" encoding="utf-8"?>
<ds:datastoreItem xmlns:ds="http://schemas.openxmlformats.org/officeDocument/2006/customXml" ds:itemID="{B7066F7B-EA61-4071-B961-E1FA19724DC0}">
  <ds:schemaRefs/>
</ds:datastoreItem>
</file>

<file path=customXml/itemProps48.xml><?xml version="1.0" encoding="utf-8"?>
<ds:datastoreItem xmlns:ds="http://schemas.openxmlformats.org/officeDocument/2006/customXml" ds:itemID="{1AB4A281-5EBA-4CA1-A536-6B29C98890B6}">
  <ds:schemaRefs/>
</ds:datastoreItem>
</file>

<file path=customXml/itemProps49.xml><?xml version="1.0" encoding="utf-8"?>
<ds:datastoreItem xmlns:ds="http://schemas.openxmlformats.org/officeDocument/2006/customXml" ds:itemID="{43BC5722-1D5B-4915-8247-E6D5F513E549}">
  <ds:schemaRefs/>
</ds:datastoreItem>
</file>

<file path=customXml/itemProps50.xml><?xml version="1.0" encoding="utf-8"?>
<ds:datastoreItem xmlns:ds="http://schemas.openxmlformats.org/officeDocument/2006/customXml" ds:itemID="{988BE19C-289C-4D51-AC33-2691C170DBEA}">
  <ds:schemaRefs/>
</ds:datastoreItem>
</file>

<file path=customXml/itemProps51.xml><?xml version="1.0" encoding="utf-8"?>
<ds:datastoreItem xmlns:ds="http://schemas.openxmlformats.org/officeDocument/2006/customXml" ds:itemID="{FC77B9F3-C094-489B-8C01-F272F0AF68C6}">
  <ds:schemaRefs/>
</ds:datastoreItem>
</file>

<file path=customXml/itemProps52.xml><?xml version="1.0" encoding="utf-8"?>
<ds:datastoreItem xmlns:ds="http://schemas.openxmlformats.org/officeDocument/2006/customXml" ds:itemID="{56A99A3E-A648-468D-B568-4C0AD8B35441}">
  <ds:schemaRefs/>
</ds:datastoreItem>
</file>

<file path=customXml/itemProps53.xml><?xml version="1.0" encoding="utf-8"?>
<ds:datastoreItem xmlns:ds="http://schemas.openxmlformats.org/officeDocument/2006/customXml" ds:itemID="{C89A946A-C258-4267-A263-69DA8374B547}">
  <ds:schemaRefs/>
</ds:datastoreItem>
</file>

<file path=customXml/itemProps54.xml><?xml version="1.0" encoding="utf-8"?>
<ds:datastoreItem xmlns:ds="http://schemas.openxmlformats.org/officeDocument/2006/customXml" ds:itemID="{65B44A9F-1851-42AC-AD3C-FFC343A07D3A}">
  <ds:schemaRefs/>
</ds:datastoreItem>
</file>

<file path=customXml/itemProps55.xml><?xml version="1.0" encoding="utf-8"?>
<ds:datastoreItem xmlns:ds="http://schemas.openxmlformats.org/officeDocument/2006/customXml" ds:itemID="{00121D97-98F5-4946-8A5D-87D090F11338}">
  <ds:schemaRefs/>
</ds:datastoreItem>
</file>

<file path=customXml/itemProps56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7.xml><?xml version="1.0" encoding="utf-8"?>
<ds:datastoreItem xmlns:ds="http://schemas.openxmlformats.org/officeDocument/2006/customXml" ds:itemID="{1D3A887C-FC1C-482E-BE66-F9B66B0A6227}">
  <ds:schemaRefs/>
</ds:datastoreItem>
</file>

<file path=customXml/itemProps58.xml><?xml version="1.0" encoding="utf-8"?>
<ds:datastoreItem xmlns:ds="http://schemas.openxmlformats.org/officeDocument/2006/customXml" ds:itemID="{9DF1E77E-93BB-43A3-BEC8-6478C2794FA6}">
  <ds:schemaRefs/>
</ds:datastoreItem>
</file>

<file path=customXml/itemProps59.xml><?xml version="1.0" encoding="utf-8"?>
<ds:datastoreItem xmlns:ds="http://schemas.openxmlformats.org/officeDocument/2006/customXml" ds:itemID="{682BF6E6-8993-4A0E-A615-E24230C37DAC}">
  <ds:schemaRefs/>
</ds:datastoreItem>
</file>

<file path=customXml/itemProps60.xml><?xml version="1.0" encoding="utf-8"?>
<ds:datastoreItem xmlns:ds="http://schemas.openxmlformats.org/officeDocument/2006/customXml" ds:itemID="{EC53C6C7-14A0-4237-9C9A-FA78B37E53AB}">
  <ds:schemaRefs/>
</ds:datastoreItem>
</file>

<file path=customXml/itemProps61.xml><?xml version="1.0" encoding="utf-8"?>
<ds:datastoreItem xmlns:ds="http://schemas.openxmlformats.org/officeDocument/2006/customXml" ds:itemID="{AE04A922-1222-46EA-85D1-620CD08A927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Consolas</vt:lpstr>
      <vt:lpstr>AMD Corporate Template_Dark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Sobhee, Shailen</cp:lastModifiedBy>
  <cp:revision>27</cp:revision>
  <cp:lastPrinted>2020-04-30T18:59:47Z</cp:lastPrinted>
  <dcterms:created xsi:type="dcterms:W3CDTF">2021-04-19T14:31:00Z</dcterms:created>
  <dcterms:modified xsi:type="dcterms:W3CDTF">2024-02-12T13:41:35Z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</Properties>
</file>
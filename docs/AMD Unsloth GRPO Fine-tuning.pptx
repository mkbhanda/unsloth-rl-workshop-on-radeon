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40"/>
  </p:sldMasterIdLst>
  <p:notesMasterIdLst>
    <p:notesMasterId r:id="rId57"/>
  </p:notesMasterIdLst>
  <p:handoutMasterIdLst>
    <p:handoutMasterId r:id="rId58"/>
  </p:handoutMasterIdLst>
  <p:sldIdLst>
    <p:sldId id="284" r:id="rId41"/>
    <p:sldId id="258" r:id="rId42"/>
    <p:sldId id="329" r:id="rId43"/>
    <p:sldId id="330" r:id="rId44"/>
    <p:sldId id="331" r:id="rId45"/>
    <p:sldId id="332" r:id="rId46"/>
    <p:sldId id="333" r:id="rId47"/>
    <p:sldId id="335" r:id="rId48"/>
    <p:sldId id="336" r:id="rId49"/>
    <p:sldId id="337" r:id="rId50"/>
    <p:sldId id="338" r:id="rId51"/>
    <p:sldId id="339" r:id="rId52"/>
    <p:sldId id="340" r:id="rId53"/>
    <p:sldId id="342" r:id="rId54"/>
    <p:sldId id="341" r:id="rId55"/>
    <p:sldId id="283" r:id="rId5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2DE"/>
    <a:srgbClr val="8D8C95"/>
    <a:srgbClr val="000000"/>
    <a:srgbClr val="262626"/>
    <a:srgbClr val="131313"/>
    <a:srgbClr val="242428"/>
    <a:srgbClr val="19181C"/>
    <a:srgbClr val="E15310"/>
    <a:srgbClr val="006D85"/>
    <a:srgbClr val="888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7843" autoAdjust="0"/>
  </p:normalViewPr>
  <p:slideViewPr>
    <p:cSldViewPr snapToGrid="0">
      <p:cViewPr varScale="1">
        <p:scale>
          <a:sx n="54" d="100"/>
          <a:sy n="54" d="100"/>
        </p:scale>
        <p:origin x="84" y="894"/>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 d="1"/>
        <a:sy n="1" d="1"/>
      </p:scale>
      <p:origin x="0" y="-2792"/>
    </p:cViewPr>
  </p:sorterViewPr>
  <p:notesViewPr>
    <p:cSldViewPr snapToGrid="0" showGuides="1">
      <p:cViewPr varScale="1">
        <p:scale>
          <a:sx n="168" d="100"/>
          <a:sy n="168" d="100"/>
        </p:scale>
        <p:origin x="5432" y="2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customXml" Target="../customXml/item39.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slide" Target="slides/slide2.xml"/><Relationship Id="rId47" Type="http://schemas.openxmlformats.org/officeDocument/2006/relationships/slide" Target="slides/slide7.xml"/><Relationship Id="rId50" Type="http://schemas.openxmlformats.org/officeDocument/2006/relationships/slide" Target="slides/slide10.xml"/><Relationship Id="rId55" Type="http://schemas.openxmlformats.org/officeDocument/2006/relationships/slide" Target="slides/slide15.xml"/><Relationship Id="rId63"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slideMaster" Target="slideMasters/slideMaster1.xml"/><Relationship Id="rId45" Type="http://schemas.openxmlformats.org/officeDocument/2006/relationships/slide" Target="slides/slide5.xml"/><Relationship Id="rId53" Type="http://schemas.openxmlformats.org/officeDocument/2006/relationships/slide" Target="slides/slide13.xml"/><Relationship Id="rId58" Type="http://schemas.openxmlformats.org/officeDocument/2006/relationships/handoutMaster" Target="handoutMasters/handoutMaster1.xml"/><Relationship Id="rId5" Type="http://schemas.openxmlformats.org/officeDocument/2006/relationships/customXml" Target="../customXml/item5.xml"/><Relationship Id="rId61" Type="http://schemas.openxmlformats.org/officeDocument/2006/relationships/viewProps" Target="viewProps.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slide" Target="slides/slide3.xml"/><Relationship Id="rId48" Type="http://schemas.openxmlformats.org/officeDocument/2006/relationships/slide" Target="slides/slide8.xml"/><Relationship Id="rId56" Type="http://schemas.openxmlformats.org/officeDocument/2006/relationships/slide" Target="slides/slide16.xml"/><Relationship Id="rId8" Type="http://schemas.openxmlformats.org/officeDocument/2006/relationships/customXml" Target="../customXml/item8.xml"/><Relationship Id="rId51" Type="http://schemas.openxmlformats.org/officeDocument/2006/relationships/slide" Target="slides/slide1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6.xml"/><Relationship Id="rId59" Type="http://schemas.openxmlformats.org/officeDocument/2006/relationships/commentAuthors" Target="commentAuthors.xml"/><Relationship Id="rId20" Type="http://schemas.openxmlformats.org/officeDocument/2006/relationships/customXml" Target="../customXml/item20.xml"/><Relationship Id="rId41" Type="http://schemas.openxmlformats.org/officeDocument/2006/relationships/slide" Target="slides/slide1.xml"/><Relationship Id="rId54" Type="http://schemas.openxmlformats.org/officeDocument/2006/relationships/slide" Target="slides/slide14.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9.xml"/><Relationship Id="rId57" Type="http://schemas.openxmlformats.org/officeDocument/2006/relationships/notesMaster" Target="notesMasters/notesMaster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4.xml"/><Relationship Id="rId52" Type="http://schemas.openxmlformats.org/officeDocument/2006/relationships/slide" Target="slides/slide12.xml"/><Relationship Id="rId6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7/30/2026 4:37 PM</a:t>
            </a:fld>
            <a:endParaRPr lang="en-US" dirty="0"/>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7/30/2026 4:37 PM</a:t>
            </a:fld>
            <a:endParaRPr lang="en-US" dirty="0"/>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9342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p15="http://schemas.microsoft.com/office/powerpoint/2012/main"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1115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AFD824D3-B0BF-F030-6A67-C1DF579938E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9800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spTree>
    <p:extLst>
      <p:ext uri="{BB962C8B-B14F-4D97-AF65-F5344CB8AC3E}">
        <p14:creationId xmlns:p14="http://schemas.microsoft.com/office/powerpoint/2010/main" val="373518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dirty="0"/>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035218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C53C8943-5F74-A1D7-26FF-088172DBDF3B}"/>
              </a:ext>
            </a:extLst>
          </p:cNvPr>
          <p:cNvSpPr txBox="1"/>
          <p:nvPr userDrawn="1">
            <p:extLst>
              <p:ext uri="{1162E1C5-73C7-4A58-AE30-91384D911F3F}">
                <p184:classification xmlns:p184="http://schemas.microsoft.com/office/powerpoint/2018/4/main" val="hdr"/>
              </p:ext>
            </p:extLst>
          </p:nvPr>
        </p:nvSpPr>
        <p:spPr>
          <a:xfrm>
            <a:off x="63500" y="63500"/>
            <a:ext cx="371475"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Public</a:t>
            </a: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926" r:id="rId2"/>
    <p:sldLayoutId id="2147484928"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9"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32" r:id="rId26"/>
    <p:sldLayoutId id="2147484927" r:id="rId27"/>
    <p:sldLayoutId id="2147484671" r:id="rId28"/>
    <p:sldLayoutId id="2147484585" r:id="rId29"/>
    <p:sldLayoutId id="2147484924" r:id="rId30"/>
    <p:sldLayoutId id="2147484299"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3.xml"/><Relationship Id="rId1" Type="http://schemas.openxmlformats.org/officeDocument/2006/relationships/customXml" Target="../../customXml/item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5.xml"/><Relationship Id="rId1" Type="http://schemas.openxmlformats.org/officeDocument/2006/relationships/customXml" Target="../../customXml/item1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6.xml"/><Relationship Id="rId1" Type="http://schemas.openxmlformats.org/officeDocument/2006/relationships/customXml" Target="../../customXml/item1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9.xml"/><Relationship Id="rId1" Type="http://schemas.openxmlformats.org/officeDocument/2006/relationships/customXml" Target="../../customXml/item18.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21.xml"/><Relationship Id="rId1" Type="http://schemas.openxmlformats.org/officeDocument/2006/relationships/customXml" Target="../../customXml/item2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22.xml"/><Relationship Id="rId1" Type="http://schemas.openxmlformats.org/officeDocument/2006/relationships/customXml" Target="../../customXml/item2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25.xml"/><Relationship Id="rId1" Type="http://schemas.openxmlformats.org/officeDocument/2006/relationships/customXml" Target="../../customXml/item2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26.xml"/><Relationship Id="rId1" Type="http://schemas.openxmlformats.org/officeDocument/2006/relationships/customXml" Target="../../customXml/item27.xml"/><Relationship Id="rId5" Type="http://schemas.openxmlformats.org/officeDocument/2006/relationships/hyperlink" Target="https://ar.inspiredpencil.com/pictures-2023/easy-sudoku-for-kids-3x3"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29.xml"/><Relationship Id="rId1" Type="http://schemas.openxmlformats.org/officeDocument/2006/relationships/customXml" Target="../../customXml/item28.xml"/><Relationship Id="rId5" Type="http://schemas.openxmlformats.org/officeDocument/2006/relationships/image" Target="../media/image5.png"/><Relationship Id="rId4" Type="http://schemas.openxmlformats.org/officeDocument/2006/relationships/hyperlink" Target="https://notebooks.amd.com/ind-dev"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30.xml"/><Relationship Id="rId1" Type="http://schemas.openxmlformats.org/officeDocument/2006/relationships/customXml" Target="../../customXml/item3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33.xml"/><Relationship Id="rId1" Type="http://schemas.openxmlformats.org/officeDocument/2006/relationships/customXml" Target="../../customXml/item3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34.xml"/><Relationship Id="rId1" Type="http://schemas.openxmlformats.org/officeDocument/2006/relationships/customXml" Target="../../customXml/item35.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39.xml"/><Relationship Id="rId1" Type="http://schemas.openxmlformats.org/officeDocument/2006/relationships/customXml" Target="../../customXml/item38.xml"/></Relationships>
</file>

<file path=ppt/slides/_rels/slide15.xml.rels><?xml version="1.0" encoding="UTF-8" standalone="yes"?>
<Relationships xmlns="http://schemas.openxmlformats.org/package/2006/relationships"><Relationship Id="rId8" Type="http://schemas.openxmlformats.org/officeDocument/2006/relationships/hyperlink" Target="https://arxiv.org/abs/2402.03300" TargetMode="External"/><Relationship Id="rId3" Type="http://schemas.openxmlformats.org/officeDocument/2006/relationships/slideLayout" Target="../slideLayouts/slideLayout4.xml"/><Relationship Id="rId7" Type="http://schemas.openxmlformats.org/officeDocument/2006/relationships/hyperlink" Target="https://arxiv.org/abs/2305.14314" TargetMode="External"/><Relationship Id="rId2" Type="http://schemas.openxmlformats.org/officeDocument/2006/relationships/customXml" Target="../../customXml/item36.xml"/><Relationship Id="rId1" Type="http://schemas.openxmlformats.org/officeDocument/2006/relationships/customXml" Target="../../customXml/item37.xml"/><Relationship Id="rId6" Type="http://schemas.openxmlformats.org/officeDocument/2006/relationships/hyperlink" Target="https://arxiv.org/abs/2106.09685" TargetMode="External"/><Relationship Id="rId5" Type="http://schemas.openxmlformats.org/officeDocument/2006/relationships/hyperlink" Target="https://docs.unsloth.ai/" TargetMode="External"/><Relationship Id="rId4" Type="http://schemas.openxmlformats.org/officeDocument/2006/relationships/hyperlink" Target="https://github.com/unslothai/unsloth" TargetMode="Externa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customXml" Target="../../customXml/item12.xml"/><Relationship Id="rId1" Type="http://schemas.openxmlformats.org/officeDocument/2006/relationships/customXml" Target="../../customXml/item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D4D9CA-F34A-7824-0DAE-1C328DB20EF9}"/>
              </a:ext>
            </a:extLst>
          </p:cNvPr>
          <p:cNvSpPr>
            <a:spLocks noGrp="1"/>
          </p:cNvSpPr>
          <p:nvPr>
            <p:ph type="title"/>
          </p:nvPr>
        </p:nvSpPr>
        <p:spPr>
          <a:xfrm>
            <a:off x="1815353" y="1621536"/>
            <a:ext cx="9779239" cy="1941576"/>
          </a:xfrm>
        </p:spPr>
        <p:txBody>
          <a:bodyPr/>
          <a:lstStyle/>
          <a:p>
            <a:r>
              <a:rPr lang="en-US" dirty="0"/>
              <a:t>AMD Unsloth GRPO Fine-tuning</a:t>
            </a:r>
          </a:p>
        </p:txBody>
      </p:sp>
      <p:sp>
        <p:nvSpPr>
          <p:cNvPr id="5" name="Text Placeholder 4">
            <a:extLst>
              <a:ext uri="{FF2B5EF4-FFF2-40B4-BE49-F238E27FC236}">
                <a16:creationId xmlns:a16="http://schemas.microsoft.com/office/drawing/2014/main" id="{45B439E4-7F4F-D558-D4BA-B20CC0A9D311}"/>
              </a:ext>
            </a:extLst>
          </p:cNvPr>
          <p:cNvSpPr>
            <a:spLocks noGrp="1"/>
          </p:cNvSpPr>
          <p:nvPr>
            <p:ph type="body" sz="quarter" idx="12"/>
          </p:nvPr>
        </p:nvSpPr>
        <p:spPr/>
        <p:txBody>
          <a:bodyPr/>
          <a:lstStyle/>
          <a:p>
            <a:r>
              <a:rPr lang="en-US" dirty="0"/>
              <a:t>Malini Bhandaru &amp; Shailen Sobhee</a:t>
            </a:r>
          </a:p>
        </p:txBody>
      </p:sp>
    </p:spTree>
    <p:extLst>
      <p:ext uri="{BB962C8B-B14F-4D97-AF65-F5344CB8AC3E}">
        <p14:creationId xmlns:p14="http://schemas.microsoft.com/office/powerpoint/2010/main" val="285906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p:txBody>
          <a:bodyPr/>
          <a:lstStyle/>
          <a:p>
            <a:r>
              <a:rPr lang="en-US" sz="2800" dirty="0"/>
              <a:t>Fine-tuning -  what &amp; when</a:t>
            </a:r>
          </a:p>
          <a:p>
            <a:r>
              <a:rPr lang="en-US" sz="2800" dirty="0"/>
              <a:t>Types of fine-tuning</a:t>
            </a:r>
          </a:p>
          <a:p>
            <a:r>
              <a:rPr lang="en-US" sz="2800" dirty="0"/>
              <a:t>Unsloth value</a:t>
            </a:r>
          </a:p>
          <a:p>
            <a:r>
              <a:rPr lang="en-US" sz="2800" dirty="0"/>
              <a:t>Game of Sudoku</a:t>
            </a:r>
          </a:p>
          <a:p>
            <a:r>
              <a:rPr lang="en-US" sz="2800" dirty="0"/>
              <a:t>AMD GPU -Radeon</a:t>
            </a:r>
          </a:p>
          <a:p>
            <a:r>
              <a:rPr lang="en-US" sz="2800" dirty="0"/>
              <a:t>Using the Jupyter Notebook</a:t>
            </a:r>
          </a:p>
        </p:txBody>
      </p:sp>
    </p:spTree>
    <p:custDataLst>
      <p:custData r:id="rId1"/>
      <p:custData r:id="rId2"/>
    </p:custDataLst>
    <p:extLst>
      <p:ext uri="{BB962C8B-B14F-4D97-AF65-F5344CB8AC3E}">
        <p14:creationId xmlns:p14="http://schemas.microsoft.com/office/powerpoint/2010/main" val="7395934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1933-B8B2-F800-84F7-8BAE97C60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34C6D-6C12-5C23-B549-09272C5DC444}"/>
              </a:ext>
            </a:extLst>
          </p:cNvPr>
          <p:cNvSpPr>
            <a:spLocks noGrp="1"/>
          </p:cNvSpPr>
          <p:nvPr>
            <p:ph type="title"/>
          </p:nvPr>
        </p:nvSpPr>
        <p:spPr>
          <a:xfrm>
            <a:off x="588263" y="591790"/>
            <a:ext cx="11018520" cy="553998"/>
          </a:xfrm>
        </p:spPr>
        <p:txBody>
          <a:bodyPr/>
          <a:lstStyle/>
          <a:p>
            <a:r>
              <a:rPr lang="en-US" sz="3600" dirty="0"/>
              <a:t>What is a Large Language Model (LLM)?</a:t>
            </a:r>
          </a:p>
        </p:txBody>
      </p:sp>
      <p:sp>
        <p:nvSpPr>
          <p:cNvPr id="3" name="Content Placeholder 2">
            <a:extLst>
              <a:ext uri="{FF2B5EF4-FFF2-40B4-BE49-F238E27FC236}">
                <a16:creationId xmlns:a16="http://schemas.microsoft.com/office/drawing/2014/main" id="{1877F7BA-C982-83FF-1FCD-A0FC83E4812D}"/>
              </a:ext>
            </a:extLst>
          </p:cNvPr>
          <p:cNvSpPr>
            <a:spLocks noGrp="1"/>
          </p:cNvSpPr>
          <p:nvPr>
            <p:ph sz="quarter" idx="10"/>
          </p:nvPr>
        </p:nvSpPr>
        <p:spPr/>
        <p:txBody>
          <a:bodyPr/>
          <a:lstStyle/>
          <a:p>
            <a:r>
              <a:rPr lang="en-US" sz="2800" dirty="0"/>
              <a:t>An LLM is a neural network trained on a huge amount of text so that it can predict the next word (technically, the next token) given what came before. That simple skill, done at scale, is enough to produce models that can chat, summarize, write code, and reason.</a:t>
            </a:r>
          </a:p>
          <a:p>
            <a:endParaRPr lang="en-US" sz="2800" dirty="0"/>
          </a:p>
          <a:p>
            <a:r>
              <a:rPr lang="en-US" sz="2800" dirty="0"/>
              <a:t>Models on Hugging Face Hub (Llama, Qwen, Mistral, and friends) are called base or instruct (modified to answer questions/chat) models. They are </a:t>
            </a:r>
            <a:r>
              <a:rPr lang="en-US" sz="2800" dirty="0">
                <a:highlight>
                  <a:srgbClr val="008080"/>
                </a:highlight>
              </a:rPr>
              <a:t>generalists.</a:t>
            </a:r>
          </a:p>
        </p:txBody>
      </p:sp>
    </p:spTree>
    <p:custDataLst>
      <p:custData r:id="rId1"/>
      <p:custData r:id="rId2"/>
    </p:custDataLst>
    <p:extLst>
      <p:ext uri="{BB962C8B-B14F-4D97-AF65-F5344CB8AC3E}">
        <p14:creationId xmlns:p14="http://schemas.microsoft.com/office/powerpoint/2010/main" val="66254173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A98EB-01AE-AE48-5C59-561C7E988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4E726-31F5-E661-A189-0F746448D0D6}"/>
              </a:ext>
            </a:extLst>
          </p:cNvPr>
          <p:cNvSpPr>
            <a:spLocks noGrp="1"/>
          </p:cNvSpPr>
          <p:nvPr>
            <p:ph type="title"/>
          </p:nvPr>
        </p:nvSpPr>
        <p:spPr>
          <a:xfrm>
            <a:off x="584200" y="311963"/>
            <a:ext cx="11018520" cy="553998"/>
          </a:xfrm>
        </p:spPr>
        <p:txBody>
          <a:bodyPr/>
          <a:lstStyle/>
          <a:p>
            <a:r>
              <a:rPr lang="en-US" sz="3600" dirty="0"/>
              <a:t>What is fine-tuning? Why do it?</a:t>
            </a:r>
          </a:p>
        </p:txBody>
      </p:sp>
      <p:sp>
        <p:nvSpPr>
          <p:cNvPr id="3" name="Content Placeholder 2">
            <a:extLst>
              <a:ext uri="{FF2B5EF4-FFF2-40B4-BE49-F238E27FC236}">
                <a16:creationId xmlns:a16="http://schemas.microsoft.com/office/drawing/2014/main" id="{C6201B04-41F5-B588-3C10-C8B70840C2A1}"/>
              </a:ext>
            </a:extLst>
          </p:cNvPr>
          <p:cNvSpPr>
            <a:spLocks noGrp="1"/>
          </p:cNvSpPr>
          <p:nvPr>
            <p:ph sz="quarter" idx="10"/>
          </p:nvPr>
        </p:nvSpPr>
        <p:spPr>
          <a:xfrm>
            <a:off x="584200" y="1227160"/>
            <a:ext cx="11018838" cy="4836927"/>
          </a:xfrm>
        </p:spPr>
        <p:txBody>
          <a:bodyPr/>
          <a:lstStyle/>
          <a:p>
            <a:pPr marL="0" indent="0">
              <a:buNone/>
            </a:pPr>
            <a:r>
              <a:rPr lang="en-US" sz="2400" dirty="0"/>
              <a:t>Fine-tuning means taking a pre-trained model and continuing to train it a little more </a:t>
            </a:r>
            <a:r>
              <a:rPr lang="en-US" sz="2400" dirty="0">
                <a:highlight>
                  <a:srgbClr val="008080"/>
                </a:highlight>
              </a:rPr>
              <a:t>on </a:t>
            </a:r>
            <a:r>
              <a:rPr lang="en-US" sz="2400" b="1" dirty="0">
                <a:highlight>
                  <a:srgbClr val="008080"/>
                </a:highlight>
              </a:rPr>
              <a:t>YOUR</a:t>
            </a:r>
            <a:r>
              <a:rPr lang="en-US" sz="2400" dirty="0">
                <a:highlight>
                  <a:srgbClr val="008080"/>
                </a:highlight>
              </a:rPr>
              <a:t> data, so it adapts to </a:t>
            </a:r>
            <a:r>
              <a:rPr lang="en-US" sz="2400" b="1" dirty="0">
                <a:highlight>
                  <a:srgbClr val="008080"/>
                </a:highlight>
              </a:rPr>
              <a:t>YOUR</a:t>
            </a:r>
            <a:r>
              <a:rPr lang="en-US" sz="2400" dirty="0">
                <a:highlight>
                  <a:srgbClr val="008080"/>
                </a:highlight>
              </a:rPr>
              <a:t> task, domain, tone, or format.</a:t>
            </a:r>
          </a:p>
          <a:p>
            <a:pPr marL="0" indent="0">
              <a:buNone/>
            </a:pPr>
            <a:br>
              <a:rPr lang="en-US" sz="2400" dirty="0"/>
            </a:br>
            <a:r>
              <a:rPr lang="en-US" sz="2400" dirty="0"/>
              <a:t>Fine tune when you want your model to:</a:t>
            </a:r>
          </a:p>
          <a:p>
            <a:pPr>
              <a:buFont typeface="Wingdings" panose="05000000000000000000" pitchFamily="2" charset="2"/>
              <a:buChar char="§"/>
            </a:pPr>
            <a:r>
              <a:rPr lang="en-US" sz="2400" dirty="0"/>
              <a:t>Speak in a specific style or persona (your brand voice, a support agent).</a:t>
            </a:r>
          </a:p>
          <a:p>
            <a:pPr>
              <a:buFont typeface="Wingdings" panose="05000000000000000000" pitchFamily="2" charset="2"/>
              <a:buChar char="§"/>
            </a:pPr>
            <a:r>
              <a:rPr lang="en-US" sz="2400" dirty="0"/>
              <a:t>Know a specific domain (legal, medical, your product docs).</a:t>
            </a:r>
          </a:p>
          <a:p>
            <a:pPr>
              <a:buFont typeface="Wingdings" panose="05000000000000000000" pitchFamily="2" charset="2"/>
              <a:buChar char="§"/>
            </a:pPr>
            <a:r>
              <a:rPr lang="en-US" sz="2400" dirty="0"/>
              <a:t>Follow a strict output format (always return JSON, always cite sources).</a:t>
            </a:r>
          </a:p>
          <a:p>
            <a:pPr>
              <a:buFont typeface="Wingdings" panose="05000000000000000000" pitchFamily="2" charset="2"/>
              <a:buChar char="§"/>
            </a:pPr>
            <a:r>
              <a:rPr lang="en-US" sz="2400" dirty="0"/>
              <a:t>Do a narrow task extremely well and cheaply on a smaller model.</a:t>
            </a:r>
            <a:br>
              <a:rPr lang="en-US" sz="2400" dirty="0"/>
            </a:br>
            <a:endParaRPr lang="en-US" sz="2400" dirty="0"/>
          </a:p>
          <a:p>
            <a:pPr marL="0" indent="0">
              <a:buNone/>
            </a:pPr>
            <a:r>
              <a:rPr lang="en-US" sz="2400" dirty="0">
                <a:highlight>
                  <a:srgbClr val="008080"/>
                </a:highlight>
              </a:rPr>
              <a:t>Fine-tuning is often cheaper and more reliable than stuffing everything into</a:t>
            </a:r>
          </a:p>
          <a:p>
            <a:pPr marL="0" indent="0">
              <a:buNone/>
            </a:pPr>
            <a:r>
              <a:rPr lang="en-US" sz="2400" dirty="0">
                <a:highlight>
                  <a:srgbClr val="008080"/>
                </a:highlight>
              </a:rPr>
              <a:t>a giant prompt or building an even huger model.  It lets a small model punch above its weight.</a:t>
            </a:r>
          </a:p>
        </p:txBody>
      </p:sp>
    </p:spTree>
    <p:custDataLst>
      <p:custData r:id="rId1"/>
      <p:custData r:id="rId2"/>
    </p:custDataLst>
    <p:extLst>
      <p:ext uri="{BB962C8B-B14F-4D97-AF65-F5344CB8AC3E}">
        <p14:creationId xmlns:p14="http://schemas.microsoft.com/office/powerpoint/2010/main" val="127203515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AD8A0-FBED-EC8F-0B11-E5481E52F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269FD-4AC8-41DC-A701-B4E22AC48DAF}"/>
              </a:ext>
            </a:extLst>
          </p:cNvPr>
          <p:cNvSpPr>
            <a:spLocks noGrp="1"/>
          </p:cNvSpPr>
          <p:nvPr>
            <p:ph type="title"/>
          </p:nvPr>
        </p:nvSpPr>
        <p:spPr>
          <a:xfrm>
            <a:off x="584200" y="311963"/>
            <a:ext cx="11018520" cy="553998"/>
          </a:xfrm>
        </p:spPr>
        <p:txBody>
          <a:bodyPr/>
          <a:lstStyle/>
          <a:p>
            <a:r>
              <a:rPr lang="en-US" sz="3600" dirty="0" err="1"/>
              <a:t>LoRA</a:t>
            </a:r>
            <a:r>
              <a:rPr lang="en-US" sz="3600" dirty="0"/>
              <a:t> &amp;  </a:t>
            </a:r>
            <a:r>
              <a:rPr lang="en-US" sz="3600" dirty="0" err="1"/>
              <a:t>QLoRA</a:t>
            </a:r>
            <a:endParaRPr lang="en-US" sz="3600" dirty="0"/>
          </a:p>
        </p:txBody>
      </p:sp>
      <p:sp>
        <p:nvSpPr>
          <p:cNvPr id="3" name="Content Placeholder 2">
            <a:extLst>
              <a:ext uri="{FF2B5EF4-FFF2-40B4-BE49-F238E27FC236}">
                <a16:creationId xmlns:a16="http://schemas.microsoft.com/office/drawing/2014/main" id="{6DEF08B2-41F2-3142-D138-0B864DCD7BC9}"/>
              </a:ext>
            </a:extLst>
          </p:cNvPr>
          <p:cNvSpPr>
            <a:spLocks noGrp="1"/>
          </p:cNvSpPr>
          <p:nvPr>
            <p:ph sz="quarter" idx="10"/>
          </p:nvPr>
        </p:nvSpPr>
        <p:spPr>
          <a:xfrm>
            <a:off x="584200" y="1227160"/>
            <a:ext cx="11018838" cy="4836927"/>
          </a:xfrm>
        </p:spPr>
        <p:txBody>
          <a:bodyPr/>
          <a:lstStyle/>
          <a:p>
            <a:r>
              <a:rPr lang="en-US" sz="2400" dirty="0" err="1"/>
              <a:t>LoRA</a:t>
            </a:r>
            <a:r>
              <a:rPr lang="en-US" sz="2400" dirty="0"/>
              <a:t> (Low-Rank Adaptation) and </a:t>
            </a:r>
            <a:r>
              <a:rPr lang="en-US" sz="2400" dirty="0" err="1"/>
              <a:t>QLoRA</a:t>
            </a:r>
            <a:r>
              <a:rPr lang="en-US" sz="2400" dirty="0"/>
              <a:t> (Quantized Low-Rank Adaptation) are parameter-efficient techniques for fine-tuning large language models, with </a:t>
            </a:r>
            <a:r>
              <a:rPr lang="en-US" sz="2400" dirty="0" err="1"/>
              <a:t>QLoRA</a:t>
            </a:r>
            <a:r>
              <a:rPr lang="en-US" sz="2400" dirty="0"/>
              <a:t> adding quantization to further reduce memory usage.</a:t>
            </a:r>
          </a:p>
          <a:p>
            <a:r>
              <a:rPr lang="en-US" sz="2400" dirty="0" err="1"/>
              <a:t>LoRA</a:t>
            </a:r>
            <a:r>
              <a:rPr lang="en-US" sz="2400" dirty="0"/>
              <a:t> involves updating only a small set of parameters instead of the entire model. It works by injecting low-rank matrices into certain layers of a pre-trained model. During training, only these adapter matrices are updated, while the original model weights remain frozen.</a:t>
            </a:r>
          </a:p>
          <a:p>
            <a:endParaRPr lang="en-US" sz="2400" dirty="0"/>
          </a:p>
          <a:p>
            <a:r>
              <a:rPr lang="en-US" sz="2400" dirty="0">
                <a:highlight>
                  <a:srgbClr val="008080"/>
                </a:highlight>
              </a:rPr>
              <a:t>This drastically reduces the number of trainable parameters, memory requirements, and computational cost, while still achieving performance comparable to full fine-tuning </a:t>
            </a:r>
          </a:p>
          <a:p>
            <a:endParaRPr lang="en-US" sz="2400" dirty="0"/>
          </a:p>
        </p:txBody>
      </p:sp>
    </p:spTree>
    <p:custDataLst>
      <p:custData r:id="rId1"/>
      <p:custData r:id="rId2"/>
    </p:custDataLst>
    <p:extLst>
      <p:ext uri="{BB962C8B-B14F-4D97-AF65-F5344CB8AC3E}">
        <p14:creationId xmlns:p14="http://schemas.microsoft.com/office/powerpoint/2010/main" val="286906433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981C-CAA0-53DE-5F97-34722272C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4F6D4-2ED6-0EA1-2507-74F6E19CFD6E}"/>
              </a:ext>
            </a:extLst>
          </p:cNvPr>
          <p:cNvSpPr>
            <a:spLocks noGrp="1"/>
          </p:cNvSpPr>
          <p:nvPr>
            <p:ph type="title"/>
          </p:nvPr>
        </p:nvSpPr>
        <p:spPr>
          <a:xfrm>
            <a:off x="584200" y="311963"/>
            <a:ext cx="11018520" cy="553998"/>
          </a:xfrm>
        </p:spPr>
        <p:txBody>
          <a:bodyPr/>
          <a:lstStyle/>
          <a:p>
            <a:r>
              <a:rPr lang="en-US" sz="3600" dirty="0"/>
              <a:t>Training Methodology: SFT, GRPO, ..</a:t>
            </a:r>
          </a:p>
        </p:txBody>
      </p:sp>
      <p:sp>
        <p:nvSpPr>
          <p:cNvPr id="3" name="Content Placeholder 2">
            <a:extLst>
              <a:ext uri="{FF2B5EF4-FFF2-40B4-BE49-F238E27FC236}">
                <a16:creationId xmlns:a16="http://schemas.microsoft.com/office/drawing/2014/main" id="{4B2B3429-40BF-0B49-9415-AC9EE308EB3D}"/>
              </a:ext>
            </a:extLst>
          </p:cNvPr>
          <p:cNvSpPr>
            <a:spLocks noGrp="1"/>
          </p:cNvSpPr>
          <p:nvPr>
            <p:ph sz="quarter" idx="10"/>
          </p:nvPr>
        </p:nvSpPr>
        <p:spPr>
          <a:xfrm>
            <a:off x="584200" y="1227160"/>
            <a:ext cx="11018838" cy="4836927"/>
          </a:xfrm>
        </p:spPr>
        <p:txBody>
          <a:bodyPr/>
          <a:lstStyle/>
          <a:p>
            <a:r>
              <a:rPr lang="en-US" sz="2400" dirty="0"/>
              <a:t>SFT – Supervised Fine Tuning</a:t>
            </a:r>
          </a:p>
          <a:p>
            <a:pPr lvl="1"/>
            <a:r>
              <a:rPr lang="en-US" sz="2400" dirty="0"/>
              <a:t>Uses labeled data</a:t>
            </a:r>
          </a:p>
          <a:p>
            <a:r>
              <a:rPr lang="en-US" sz="2400" dirty="0"/>
              <a:t>GRPO – Group Relative Policy Optimization</a:t>
            </a:r>
          </a:p>
          <a:p>
            <a:pPr lvl="1"/>
            <a:r>
              <a:rPr lang="en-US" sz="2400" dirty="0"/>
              <a:t>Involves exploring alternatives and comparing among the choices using a reward function</a:t>
            </a:r>
          </a:p>
          <a:p>
            <a:pPr lvl="1"/>
            <a:endParaRPr lang="en-US" sz="2200" dirty="0"/>
          </a:p>
          <a:p>
            <a:pPr lvl="1"/>
            <a:endParaRPr lang="en-US" sz="2200" dirty="0"/>
          </a:p>
          <a:p>
            <a:pPr lvl="1"/>
            <a:endParaRPr lang="en-US" sz="2200" dirty="0"/>
          </a:p>
        </p:txBody>
      </p:sp>
    </p:spTree>
    <p:custDataLst>
      <p:custData r:id="rId1"/>
      <p:custData r:id="rId2"/>
    </p:custDataLst>
    <p:extLst>
      <p:ext uri="{BB962C8B-B14F-4D97-AF65-F5344CB8AC3E}">
        <p14:creationId xmlns:p14="http://schemas.microsoft.com/office/powerpoint/2010/main" val="316077558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E4A3-D2AA-C432-C119-765B2D1E9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81568-0227-F05C-459E-C2135056E062}"/>
              </a:ext>
            </a:extLst>
          </p:cNvPr>
          <p:cNvSpPr>
            <a:spLocks noGrp="1"/>
          </p:cNvSpPr>
          <p:nvPr>
            <p:ph type="title"/>
          </p:nvPr>
        </p:nvSpPr>
        <p:spPr>
          <a:xfrm>
            <a:off x="584200" y="311963"/>
            <a:ext cx="11018520" cy="553998"/>
          </a:xfrm>
        </p:spPr>
        <p:txBody>
          <a:bodyPr/>
          <a:lstStyle/>
          <a:p>
            <a:r>
              <a:rPr lang="en-US" sz="3600" dirty="0"/>
              <a:t>Fine-Tuning Pipeline</a:t>
            </a:r>
          </a:p>
        </p:txBody>
      </p:sp>
      <p:sp>
        <p:nvSpPr>
          <p:cNvPr id="6" name="Rectangle: Rounded Corners 5">
            <a:extLst>
              <a:ext uri="{FF2B5EF4-FFF2-40B4-BE49-F238E27FC236}">
                <a16:creationId xmlns:a16="http://schemas.microsoft.com/office/drawing/2014/main" id="{FC6C09CA-3AB2-A17C-2466-E183C66BA16D}"/>
              </a:ext>
            </a:extLst>
          </p:cNvPr>
          <p:cNvSpPr/>
          <p:nvPr/>
        </p:nvSpPr>
        <p:spPr bwMode="auto">
          <a:xfrm>
            <a:off x="584200" y="1922929"/>
            <a:ext cx="1782482" cy="900953"/>
          </a:xfrm>
          <a:prstGeom prst="roundRect">
            <a:avLst/>
          </a:prstGeom>
          <a:solidFill>
            <a:schemeClr val="tx1">
              <a:lumMod val="85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800" dirty="0">
                <a:solidFill>
                  <a:sysClr val="windowText" lastClr="000000"/>
                </a:solidFill>
                <a:ea typeface="Segoe UI" pitchFamily="34" charset="0"/>
                <a:cs typeface="Segoe UI" pitchFamily="34" charset="0"/>
              </a:rPr>
              <a:t>Pick a model</a:t>
            </a:r>
          </a:p>
          <a:p>
            <a:pPr algn="ctr" defTabSz="932472" fontAlgn="base">
              <a:spcBef>
                <a:spcPct val="0"/>
              </a:spcBef>
              <a:spcAft>
                <a:spcPct val="0"/>
              </a:spcAft>
            </a:pPr>
            <a:r>
              <a:rPr lang="en-US" sz="1600" dirty="0">
                <a:solidFill>
                  <a:sysClr val="windowText" lastClr="000000"/>
                </a:solidFill>
                <a:ea typeface="Segoe UI" pitchFamily="34" charset="0"/>
                <a:cs typeface="Segoe UI" pitchFamily="34" charset="0"/>
              </a:rPr>
              <a:t>Start small</a:t>
            </a:r>
          </a:p>
        </p:txBody>
      </p:sp>
      <p:sp>
        <p:nvSpPr>
          <p:cNvPr id="12" name="Rectangle: Rounded Corners 11">
            <a:extLst>
              <a:ext uri="{FF2B5EF4-FFF2-40B4-BE49-F238E27FC236}">
                <a16:creationId xmlns:a16="http://schemas.microsoft.com/office/drawing/2014/main" id="{1C7DE50F-BD8F-9D7C-4EE4-9D6E0D6B163B}"/>
              </a:ext>
            </a:extLst>
          </p:cNvPr>
          <p:cNvSpPr/>
          <p:nvPr/>
        </p:nvSpPr>
        <p:spPr bwMode="auto">
          <a:xfrm>
            <a:off x="3003174" y="1368238"/>
            <a:ext cx="2702861" cy="1102660"/>
          </a:xfrm>
          <a:prstGeom prst="roundRect">
            <a:avLst/>
          </a:prstGeom>
          <a:solidFill>
            <a:schemeClr val="tx1">
              <a:lumMod val="85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800" dirty="0">
                <a:solidFill>
                  <a:sysClr val="windowText" lastClr="000000"/>
                </a:solidFill>
                <a:ea typeface="Segoe UI" pitchFamily="34" charset="0"/>
                <a:cs typeface="Segoe UI" pitchFamily="34" charset="0"/>
              </a:rPr>
              <a:t>SFT</a:t>
            </a:r>
          </a:p>
          <a:p>
            <a:pPr algn="ctr" defTabSz="932472" fontAlgn="base">
              <a:spcBef>
                <a:spcPct val="0"/>
              </a:spcBef>
              <a:spcAft>
                <a:spcPct val="0"/>
              </a:spcAft>
            </a:pPr>
            <a:r>
              <a:rPr lang="en-US" sz="1800" dirty="0">
                <a:solidFill>
                  <a:sysClr val="windowText" lastClr="000000"/>
                </a:solidFill>
                <a:ea typeface="Segoe UI" pitchFamily="34" charset="0"/>
                <a:cs typeface="Segoe UI" pitchFamily="34" charset="0"/>
              </a:rPr>
              <a:t>Pick data</a:t>
            </a:r>
          </a:p>
          <a:p>
            <a:pPr algn="ctr" defTabSz="932472" fontAlgn="base">
              <a:spcBef>
                <a:spcPct val="0"/>
              </a:spcBef>
              <a:spcAft>
                <a:spcPct val="0"/>
              </a:spcAft>
            </a:pPr>
            <a:r>
              <a:rPr lang="en-US" sz="1600" dirty="0">
                <a:solidFill>
                  <a:sysClr val="windowText" lastClr="000000"/>
                </a:solidFill>
                <a:ea typeface="Segoe UI" pitchFamily="34" charset="0"/>
                <a:cs typeface="Segoe UI" pitchFamily="34" charset="0"/>
              </a:rPr>
              <a:t>HF/public, upload</a:t>
            </a:r>
          </a:p>
        </p:txBody>
      </p:sp>
      <p:sp>
        <p:nvSpPr>
          <p:cNvPr id="14" name="Rectangle: Rounded Corners 13">
            <a:extLst>
              <a:ext uri="{FF2B5EF4-FFF2-40B4-BE49-F238E27FC236}">
                <a16:creationId xmlns:a16="http://schemas.microsoft.com/office/drawing/2014/main" id="{85CB50A4-09D5-B386-0BA1-303DC0B8602D}"/>
              </a:ext>
            </a:extLst>
          </p:cNvPr>
          <p:cNvSpPr/>
          <p:nvPr/>
        </p:nvSpPr>
        <p:spPr bwMode="auto">
          <a:xfrm>
            <a:off x="3003174" y="2613459"/>
            <a:ext cx="2711827" cy="1102661"/>
          </a:xfrm>
          <a:prstGeom prst="roundRect">
            <a:avLst/>
          </a:prstGeom>
          <a:solidFill>
            <a:schemeClr val="tx1">
              <a:lumMod val="85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800" dirty="0">
                <a:solidFill>
                  <a:sysClr val="windowText" lastClr="000000"/>
                </a:solidFill>
                <a:ea typeface="Segoe UI" pitchFamily="34" charset="0"/>
                <a:cs typeface="Segoe UI" pitchFamily="34" charset="0"/>
              </a:rPr>
              <a:t>GRPO</a:t>
            </a:r>
          </a:p>
          <a:p>
            <a:pPr algn="ctr" defTabSz="932472" fontAlgn="base">
              <a:spcBef>
                <a:spcPct val="0"/>
              </a:spcBef>
              <a:spcAft>
                <a:spcPct val="0"/>
              </a:spcAft>
            </a:pPr>
            <a:r>
              <a:rPr lang="en-US" sz="1800" dirty="0">
                <a:solidFill>
                  <a:sysClr val="windowText" lastClr="000000"/>
                </a:solidFill>
                <a:ea typeface="Segoe UI" pitchFamily="34" charset="0"/>
                <a:cs typeface="Segoe UI" pitchFamily="34" charset="0"/>
              </a:rPr>
              <a:t>Generate data, define reward function</a:t>
            </a:r>
            <a:endParaRPr lang="en-US" sz="1600" dirty="0">
              <a:solidFill>
                <a:sysClr val="windowText" lastClr="000000"/>
              </a:solidFill>
              <a:ea typeface="Segoe UI" pitchFamily="34" charset="0"/>
              <a:cs typeface="Segoe UI" pitchFamily="34" charset="0"/>
            </a:endParaRPr>
          </a:p>
        </p:txBody>
      </p:sp>
      <p:sp>
        <p:nvSpPr>
          <p:cNvPr id="16" name="Rectangle: Rounded Corners 15">
            <a:extLst>
              <a:ext uri="{FF2B5EF4-FFF2-40B4-BE49-F238E27FC236}">
                <a16:creationId xmlns:a16="http://schemas.microsoft.com/office/drawing/2014/main" id="{EF12957B-8484-CB6B-62F2-77E4F77C3BE2}"/>
              </a:ext>
            </a:extLst>
          </p:cNvPr>
          <p:cNvSpPr/>
          <p:nvPr/>
        </p:nvSpPr>
        <p:spPr bwMode="auto">
          <a:xfrm>
            <a:off x="6351495" y="1976716"/>
            <a:ext cx="2111186" cy="900953"/>
          </a:xfrm>
          <a:prstGeom prst="roundRect">
            <a:avLst/>
          </a:prstGeom>
          <a:solidFill>
            <a:schemeClr val="tx1">
              <a:lumMod val="85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solidFill>
                  <a:sysClr val="windowText" lastClr="000000"/>
                </a:solidFill>
                <a:ea typeface="Segoe UI" pitchFamily="34" charset="0"/>
                <a:cs typeface="Segoe UI" pitchFamily="34" charset="0"/>
              </a:rPr>
              <a:t>Choose</a:t>
            </a:r>
          </a:p>
          <a:p>
            <a:pPr algn="ctr" defTabSz="932472" fontAlgn="base">
              <a:spcBef>
                <a:spcPct val="0"/>
              </a:spcBef>
              <a:spcAft>
                <a:spcPct val="0"/>
              </a:spcAft>
            </a:pPr>
            <a:r>
              <a:rPr lang="en-US" sz="1800" dirty="0" err="1">
                <a:solidFill>
                  <a:sysClr val="windowText" lastClr="000000"/>
                </a:solidFill>
                <a:ea typeface="Segoe UI" pitchFamily="34" charset="0"/>
                <a:cs typeface="Segoe UI" pitchFamily="34" charset="0"/>
              </a:rPr>
              <a:t>LoRA</a:t>
            </a:r>
            <a:r>
              <a:rPr lang="en-US" sz="1800" dirty="0">
                <a:solidFill>
                  <a:sysClr val="windowText" lastClr="000000"/>
                </a:solidFill>
                <a:ea typeface="Segoe UI" pitchFamily="34" charset="0"/>
                <a:cs typeface="Segoe UI" pitchFamily="34" charset="0"/>
              </a:rPr>
              <a:t> or </a:t>
            </a:r>
            <a:r>
              <a:rPr lang="en-US" sz="1800" dirty="0" err="1">
                <a:solidFill>
                  <a:sysClr val="windowText" lastClr="000000"/>
                </a:solidFill>
                <a:ea typeface="Segoe UI" pitchFamily="34" charset="0"/>
                <a:cs typeface="Segoe UI" pitchFamily="34" charset="0"/>
              </a:rPr>
              <a:t>QLoRA</a:t>
            </a:r>
            <a:endParaRPr lang="en-US" sz="1600" dirty="0">
              <a:solidFill>
                <a:sysClr val="windowText" lastClr="000000"/>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0E635C03-F55C-64C2-7DC0-77E2E6592CF8}"/>
              </a:ext>
            </a:extLst>
          </p:cNvPr>
          <p:cNvSpPr/>
          <p:nvPr/>
        </p:nvSpPr>
        <p:spPr bwMode="auto">
          <a:xfrm>
            <a:off x="8817910" y="1976715"/>
            <a:ext cx="1286434" cy="900953"/>
          </a:xfrm>
          <a:prstGeom prst="roundRect">
            <a:avLst/>
          </a:prstGeom>
          <a:solidFill>
            <a:schemeClr val="accent6">
              <a:lumMod val="75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800" b="1" dirty="0">
                <a:solidFill>
                  <a:schemeClr val="tx1"/>
                </a:solidFill>
                <a:ea typeface="Segoe UI" pitchFamily="34" charset="0"/>
                <a:cs typeface="Segoe UI" pitchFamily="34" charset="0"/>
              </a:rPr>
              <a:t>Train</a:t>
            </a:r>
            <a:endParaRPr lang="en-US" sz="1600" b="1" dirty="0">
              <a:solidFill>
                <a:schemeClr val="tx1"/>
              </a:solidFill>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8CF31FD0-7523-3E94-9ABB-92AC751E97A1}"/>
              </a:ext>
            </a:extLst>
          </p:cNvPr>
          <p:cNvSpPr/>
          <p:nvPr/>
        </p:nvSpPr>
        <p:spPr bwMode="auto">
          <a:xfrm>
            <a:off x="10459573" y="1976715"/>
            <a:ext cx="1429870" cy="900953"/>
          </a:xfrm>
          <a:prstGeom prst="roundRect">
            <a:avLst/>
          </a:prstGeom>
          <a:solidFill>
            <a:schemeClr val="tx1">
              <a:lumMod val="85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solidFill>
                  <a:sysClr val="windowText" lastClr="000000"/>
                </a:solidFill>
                <a:ea typeface="Segoe UI" pitchFamily="34" charset="0"/>
                <a:cs typeface="Segoe UI" pitchFamily="34" charset="0"/>
              </a:rPr>
              <a:t>Evaluate</a:t>
            </a:r>
            <a:endParaRPr lang="en-US" sz="1600" dirty="0">
              <a:solidFill>
                <a:sysClr val="windowText" lastClr="000000"/>
              </a:solidFill>
              <a:ea typeface="Segoe UI" pitchFamily="34" charset="0"/>
              <a:cs typeface="Segoe UI" pitchFamily="34" charset="0"/>
            </a:endParaRPr>
          </a:p>
        </p:txBody>
      </p:sp>
      <p:cxnSp>
        <p:nvCxnSpPr>
          <p:cNvPr id="22" name="Straight Arrow Connector 21">
            <a:extLst>
              <a:ext uri="{FF2B5EF4-FFF2-40B4-BE49-F238E27FC236}">
                <a16:creationId xmlns:a16="http://schemas.microsoft.com/office/drawing/2014/main" id="{46BCDFB1-8B10-01B3-77A9-910F615F9182}"/>
              </a:ext>
            </a:extLst>
          </p:cNvPr>
          <p:cNvCxnSpPr>
            <a:cxnSpLocks/>
            <a:stCxn id="6" idx="3"/>
            <a:endCxn id="12" idx="1"/>
          </p:cNvCxnSpPr>
          <p:nvPr/>
        </p:nvCxnSpPr>
        <p:spPr>
          <a:xfrm flipV="1">
            <a:off x="2366682" y="1919568"/>
            <a:ext cx="636492" cy="453838"/>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3983C27E-97F6-A215-3F73-8533DA40D1A4}"/>
              </a:ext>
            </a:extLst>
          </p:cNvPr>
          <p:cNvCxnSpPr>
            <a:cxnSpLocks/>
            <a:stCxn id="6" idx="3"/>
            <a:endCxn id="14" idx="1"/>
          </p:cNvCxnSpPr>
          <p:nvPr/>
        </p:nvCxnSpPr>
        <p:spPr>
          <a:xfrm>
            <a:off x="2366682" y="2373406"/>
            <a:ext cx="636492" cy="791384"/>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a:extLst>
              <a:ext uri="{FF2B5EF4-FFF2-40B4-BE49-F238E27FC236}">
                <a16:creationId xmlns:a16="http://schemas.microsoft.com/office/drawing/2014/main" id="{FC295B66-152B-CDC7-86CD-18102B16A182}"/>
              </a:ext>
            </a:extLst>
          </p:cNvPr>
          <p:cNvCxnSpPr>
            <a:cxnSpLocks/>
            <a:stCxn id="12" idx="3"/>
          </p:cNvCxnSpPr>
          <p:nvPr/>
        </p:nvCxnSpPr>
        <p:spPr>
          <a:xfrm>
            <a:off x="5706035" y="1919568"/>
            <a:ext cx="654426" cy="551330"/>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C6BB2D56-98B9-B438-5CDC-3C433907A4D4}"/>
              </a:ext>
            </a:extLst>
          </p:cNvPr>
          <p:cNvCxnSpPr>
            <a:cxnSpLocks/>
            <a:stCxn id="14" idx="3"/>
            <a:endCxn id="16" idx="1"/>
          </p:cNvCxnSpPr>
          <p:nvPr/>
        </p:nvCxnSpPr>
        <p:spPr>
          <a:xfrm flipV="1">
            <a:off x="5715001" y="2427193"/>
            <a:ext cx="636494" cy="737597"/>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6" name="TextBox 45">
            <a:extLst>
              <a:ext uri="{FF2B5EF4-FFF2-40B4-BE49-F238E27FC236}">
                <a16:creationId xmlns:a16="http://schemas.microsoft.com/office/drawing/2014/main" id="{4D1A79AF-17AB-4820-7A3F-FD782174ACA5}"/>
              </a:ext>
            </a:extLst>
          </p:cNvPr>
          <p:cNvSpPr txBox="1"/>
          <p:nvPr/>
        </p:nvSpPr>
        <p:spPr>
          <a:xfrm>
            <a:off x="739588" y="5177118"/>
            <a:ext cx="8096191" cy="276999"/>
          </a:xfrm>
          <a:prstGeom prst="rect">
            <a:avLst/>
          </a:prstGeom>
          <a:noFill/>
        </p:spPr>
        <p:txBody>
          <a:bodyPr wrap="none" lIns="0" tIns="0" rIns="0" bIns="0" rtlCol="0">
            <a:spAutoFit/>
          </a:bodyPr>
          <a:lstStyle/>
          <a:p>
            <a:pPr algn="l">
              <a:buClr>
                <a:schemeClr val="accent1"/>
              </a:buClr>
              <a:buSzPct val="60000"/>
            </a:pPr>
            <a:r>
              <a:rPr lang="en-US" sz="1800" dirty="0">
                <a:highlight>
                  <a:srgbClr val="008080"/>
                </a:highlight>
              </a:rPr>
              <a:t>Training Knobs: learning rate, number of steps, time limit, max sequence length </a:t>
            </a:r>
          </a:p>
        </p:txBody>
      </p:sp>
      <p:cxnSp>
        <p:nvCxnSpPr>
          <p:cNvPr id="49" name="Straight Arrow Connector 48">
            <a:extLst>
              <a:ext uri="{FF2B5EF4-FFF2-40B4-BE49-F238E27FC236}">
                <a16:creationId xmlns:a16="http://schemas.microsoft.com/office/drawing/2014/main" id="{AC243C09-A848-92E0-CD71-67481ECEAB1E}"/>
              </a:ext>
            </a:extLst>
          </p:cNvPr>
          <p:cNvCxnSpPr>
            <a:cxnSpLocks/>
          </p:cNvCxnSpPr>
          <p:nvPr/>
        </p:nvCxnSpPr>
        <p:spPr>
          <a:xfrm>
            <a:off x="10136847" y="2463176"/>
            <a:ext cx="322726" cy="0"/>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CB01842D-4393-7004-03E3-B24F8347FF20}"/>
              </a:ext>
            </a:extLst>
          </p:cNvPr>
          <p:cNvCxnSpPr>
            <a:cxnSpLocks/>
          </p:cNvCxnSpPr>
          <p:nvPr/>
        </p:nvCxnSpPr>
        <p:spPr>
          <a:xfrm>
            <a:off x="8462681" y="2470898"/>
            <a:ext cx="322726" cy="0"/>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ustDataLst>
      <p:custData r:id="rId1"/>
      <p:custData r:id="rId2"/>
    </p:custDataLst>
    <p:extLst>
      <p:ext uri="{BB962C8B-B14F-4D97-AF65-F5344CB8AC3E}">
        <p14:creationId xmlns:p14="http://schemas.microsoft.com/office/powerpoint/2010/main" val="392067954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5842-DC1B-4843-CC9A-A061EFCB6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E71DB-5AC8-02A0-C5EF-D545008D381B}"/>
              </a:ext>
            </a:extLst>
          </p:cNvPr>
          <p:cNvSpPr>
            <a:spLocks noGrp="1"/>
          </p:cNvSpPr>
          <p:nvPr>
            <p:ph type="title"/>
          </p:nvPr>
        </p:nvSpPr>
        <p:spPr>
          <a:xfrm>
            <a:off x="584200" y="311963"/>
            <a:ext cx="11018520" cy="553998"/>
          </a:xfrm>
        </p:spPr>
        <p:txBody>
          <a:bodyPr/>
          <a:lstStyle/>
          <a:p>
            <a:r>
              <a:rPr lang="en-US" sz="3600" dirty="0"/>
              <a:t>Unsloth</a:t>
            </a:r>
          </a:p>
        </p:txBody>
      </p:sp>
      <p:sp>
        <p:nvSpPr>
          <p:cNvPr id="3" name="Content Placeholder 2">
            <a:extLst>
              <a:ext uri="{FF2B5EF4-FFF2-40B4-BE49-F238E27FC236}">
                <a16:creationId xmlns:a16="http://schemas.microsoft.com/office/drawing/2014/main" id="{C6492D29-D050-71BD-D2D3-E50CC9EB90F4}"/>
              </a:ext>
            </a:extLst>
          </p:cNvPr>
          <p:cNvSpPr>
            <a:spLocks noGrp="1"/>
          </p:cNvSpPr>
          <p:nvPr>
            <p:ph sz="quarter" idx="10"/>
          </p:nvPr>
        </p:nvSpPr>
        <p:spPr>
          <a:xfrm>
            <a:off x="584200" y="1227160"/>
            <a:ext cx="11018838" cy="4836927"/>
          </a:xfrm>
        </p:spPr>
        <p:txBody>
          <a:bodyPr/>
          <a:lstStyle/>
          <a:p>
            <a:r>
              <a:rPr lang="en-US" sz="2400" dirty="0"/>
              <a:t>An open‑source, no‑code framework and UI for training, running, and exporting large language models (LLMs) locally, with optimizations for speed, memory efficiency, and accessibility</a:t>
            </a:r>
          </a:p>
          <a:p>
            <a:endParaRPr lang="en-US" sz="2400" dirty="0"/>
          </a:p>
          <a:p>
            <a:r>
              <a:rPr lang="en-US" sz="2400" dirty="0">
                <a:highlight>
                  <a:srgbClr val="008080"/>
                </a:highlight>
              </a:rPr>
              <a:t>Unsloth is designed to make fine‑tuning and inference of LLMs faster, cheaper, and easier, even on consumer‑grade hardware. </a:t>
            </a:r>
            <a:r>
              <a:rPr lang="en-US" sz="2400" dirty="0"/>
              <a:t>It acts as an optimized layer on top of libraries like Hugging Face Transformers, incorporating techniques such as: </a:t>
            </a:r>
            <a:r>
              <a:rPr lang="en-US" sz="2400" dirty="0" err="1"/>
              <a:t>LoRA</a:t>
            </a:r>
            <a:r>
              <a:rPr lang="en-US" sz="2400" dirty="0"/>
              <a:t>, </a:t>
            </a:r>
            <a:r>
              <a:rPr lang="en-US" sz="2400" dirty="0" err="1"/>
              <a:t>QLoRA</a:t>
            </a:r>
            <a:r>
              <a:rPr lang="en-US" sz="2400" dirty="0"/>
              <a:t>, Quantization and Optimized kernels for faster attention and MLP layer computations</a:t>
            </a:r>
          </a:p>
        </p:txBody>
      </p:sp>
    </p:spTree>
    <p:custDataLst>
      <p:custData r:id="rId1"/>
      <p:custData r:id="rId2"/>
    </p:custDataLst>
    <p:extLst>
      <p:ext uri="{BB962C8B-B14F-4D97-AF65-F5344CB8AC3E}">
        <p14:creationId xmlns:p14="http://schemas.microsoft.com/office/powerpoint/2010/main" val="425849711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CB89B-9E5A-3466-2443-01F0CF575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8D267-D041-630C-302C-720041CA1864}"/>
              </a:ext>
            </a:extLst>
          </p:cNvPr>
          <p:cNvSpPr>
            <a:spLocks noGrp="1"/>
          </p:cNvSpPr>
          <p:nvPr>
            <p:ph type="title"/>
          </p:nvPr>
        </p:nvSpPr>
        <p:spPr>
          <a:xfrm>
            <a:off x="584200" y="311963"/>
            <a:ext cx="11018520" cy="553998"/>
          </a:xfrm>
        </p:spPr>
        <p:txBody>
          <a:bodyPr/>
          <a:lstStyle/>
          <a:p>
            <a:r>
              <a:rPr lang="en-US" sz="3600" dirty="0"/>
              <a:t>Game of Sudoku</a:t>
            </a:r>
          </a:p>
        </p:txBody>
      </p:sp>
      <p:sp>
        <p:nvSpPr>
          <p:cNvPr id="3" name="Content Placeholder 2">
            <a:extLst>
              <a:ext uri="{FF2B5EF4-FFF2-40B4-BE49-F238E27FC236}">
                <a16:creationId xmlns:a16="http://schemas.microsoft.com/office/drawing/2014/main" id="{86E1A107-E0BD-1FFA-8490-80C009EAE20B}"/>
              </a:ext>
            </a:extLst>
          </p:cNvPr>
          <p:cNvSpPr>
            <a:spLocks noGrp="1"/>
          </p:cNvSpPr>
          <p:nvPr>
            <p:ph sz="quarter" idx="10"/>
          </p:nvPr>
        </p:nvSpPr>
        <p:spPr>
          <a:xfrm>
            <a:off x="584200" y="1227160"/>
            <a:ext cx="11018838" cy="4836927"/>
          </a:xfrm>
        </p:spPr>
        <p:txBody>
          <a:bodyPr/>
          <a:lstStyle/>
          <a:p>
            <a:r>
              <a:rPr lang="en-US" sz="2400" dirty="0"/>
              <a:t>Sudoku means “single number” in Japanese.</a:t>
            </a:r>
          </a:p>
          <a:p>
            <a:r>
              <a:rPr lang="en-US" sz="2400" dirty="0"/>
              <a:t>A logic-based puzzle where you place digits 1–9 so each row, column, and 3×3 box contains each digit exactly once.</a:t>
            </a:r>
          </a:p>
        </p:txBody>
      </p:sp>
      <p:pic>
        <p:nvPicPr>
          <p:cNvPr id="5" name="Picture 4">
            <a:extLst>
              <a:ext uri="{FF2B5EF4-FFF2-40B4-BE49-F238E27FC236}">
                <a16:creationId xmlns:a16="http://schemas.microsoft.com/office/drawing/2014/main" id="{556EF46D-A913-0087-9D2C-915A186AA4F2}"/>
              </a:ext>
            </a:extLst>
          </p:cNvPr>
          <p:cNvPicPr>
            <a:picLocks noChangeAspect="1"/>
          </p:cNvPicPr>
          <p:nvPr/>
        </p:nvPicPr>
        <p:blipFill>
          <a:blip r:embed="rId4"/>
          <a:stretch>
            <a:fillRect/>
          </a:stretch>
        </p:blipFill>
        <p:spPr>
          <a:xfrm>
            <a:off x="2943999" y="2743473"/>
            <a:ext cx="3435298" cy="3681813"/>
          </a:xfrm>
          <a:prstGeom prst="rect">
            <a:avLst/>
          </a:prstGeom>
        </p:spPr>
      </p:pic>
      <p:sp>
        <p:nvSpPr>
          <p:cNvPr id="7" name="TextBox 6">
            <a:extLst>
              <a:ext uri="{FF2B5EF4-FFF2-40B4-BE49-F238E27FC236}">
                <a16:creationId xmlns:a16="http://schemas.microsoft.com/office/drawing/2014/main" id="{FC0D3A6D-90BD-5CC6-62C3-678B209A2FDB}"/>
              </a:ext>
            </a:extLst>
          </p:cNvPr>
          <p:cNvSpPr txBox="1"/>
          <p:nvPr/>
        </p:nvSpPr>
        <p:spPr>
          <a:xfrm>
            <a:off x="3326815" y="6425286"/>
            <a:ext cx="6104964" cy="363946"/>
          </a:xfrm>
          <a:prstGeom prst="rect">
            <a:avLst/>
          </a:prstGeom>
          <a:noFill/>
        </p:spPr>
        <p:txBody>
          <a:bodyPr wrap="square">
            <a:spAutoFit/>
          </a:bodyPr>
          <a:lstStyle/>
          <a:p>
            <a:r>
              <a:rPr lang="en-US">
                <a:hlinkClick r:id="rId5"/>
              </a:rPr>
              <a:t>Easy Sudoku For Kids 3x3</a:t>
            </a:r>
            <a:endParaRPr lang="en-US" dirty="0"/>
          </a:p>
        </p:txBody>
      </p:sp>
    </p:spTree>
    <p:custDataLst>
      <p:custData r:id="rId1"/>
      <p:custData r:id="rId2"/>
    </p:custDataLst>
    <p:extLst>
      <p:ext uri="{BB962C8B-B14F-4D97-AF65-F5344CB8AC3E}">
        <p14:creationId xmlns:p14="http://schemas.microsoft.com/office/powerpoint/2010/main" val="31775398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55625-97A4-6D08-0CBE-0464978C9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4997F-4CFC-92B5-54E0-0D422A93DCBD}"/>
              </a:ext>
            </a:extLst>
          </p:cNvPr>
          <p:cNvSpPr>
            <a:spLocks noGrp="1"/>
          </p:cNvSpPr>
          <p:nvPr>
            <p:ph type="title"/>
          </p:nvPr>
        </p:nvSpPr>
        <p:spPr>
          <a:xfrm>
            <a:off x="584200" y="311963"/>
            <a:ext cx="11018520" cy="553998"/>
          </a:xfrm>
        </p:spPr>
        <p:txBody>
          <a:bodyPr/>
          <a:lstStyle/>
          <a:p>
            <a:r>
              <a:rPr lang="en-US" sz="3600" dirty="0"/>
              <a:t>AMD </a:t>
            </a:r>
            <a:r>
              <a:rPr lang="en-US" sz="3600" dirty="0" err="1"/>
              <a:t>UnSloth</a:t>
            </a:r>
            <a:r>
              <a:rPr lang="en-US" sz="3600" dirty="0"/>
              <a:t> Fine-Tuning Workshop</a:t>
            </a:r>
          </a:p>
        </p:txBody>
      </p:sp>
      <p:sp>
        <p:nvSpPr>
          <p:cNvPr id="3" name="Content Placeholder 2">
            <a:extLst>
              <a:ext uri="{FF2B5EF4-FFF2-40B4-BE49-F238E27FC236}">
                <a16:creationId xmlns:a16="http://schemas.microsoft.com/office/drawing/2014/main" id="{D5D39251-2197-C7B0-2395-0BDE3E07E167}"/>
              </a:ext>
            </a:extLst>
          </p:cNvPr>
          <p:cNvSpPr>
            <a:spLocks noGrp="1"/>
          </p:cNvSpPr>
          <p:nvPr>
            <p:ph sz="quarter" idx="10"/>
          </p:nvPr>
        </p:nvSpPr>
        <p:spPr>
          <a:xfrm>
            <a:off x="584200" y="1227160"/>
            <a:ext cx="11018838" cy="4836927"/>
          </a:xfrm>
        </p:spPr>
        <p:txBody>
          <a:bodyPr/>
          <a:lstStyle/>
          <a:p>
            <a:r>
              <a:rPr lang="en-US" sz="2400" dirty="0">
                <a:highlight>
                  <a:srgbClr val="008080"/>
                </a:highlight>
                <a:hlinkClick r:id="rId4"/>
              </a:rPr>
              <a:t>https://notebooks.amd.com/ind-dev</a:t>
            </a:r>
            <a:endParaRPr lang="en-US" sz="2400" dirty="0">
              <a:highlight>
                <a:srgbClr val="008080"/>
              </a:highlight>
            </a:endParaRPr>
          </a:p>
          <a:p>
            <a:pPr lvl="1"/>
            <a:r>
              <a:rPr lang="en-US" sz="2200" dirty="0"/>
              <a:t>Brings you to an AMD Radeon GPU hosted Jupyter notebook</a:t>
            </a:r>
            <a:endParaRPr lang="en-US" sz="2400" dirty="0"/>
          </a:p>
          <a:p>
            <a:r>
              <a:rPr lang="en-US" sz="2400" dirty="0"/>
              <a:t>Password: </a:t>
            </a:r>
            <a:r>
              <a:rPr lang="en-US" sz="2400" dirty="0" err="1">
                <a:highlight>
                  <a:srgbClr val="008080"/>
                </a:highlight>
              </a:rPr>
              <a:t>RadeonUnslothTuning</a:t>
            </a:r>
            <a:endParaRPr lang="en-US" sz="2400" dirty="0">
              <a:highlight>
                <a:srgbClr val="008080"/>
              </a:highlight>
            </a:endParaRPr>
          </a:p>
        </p:txBody>
      </p:sp>
      <p:pic>
        <p:nvPicPr>
          <p:cNvPr id="5" name="Picture 4">
            <a:extLst>
              <a:ext uri="{FF2B5EF4-FFF2-40B4-BE49-F238E27FC236}">
                <a16:creationId xmlns:a16="http://schemas.microsoft.com/office/drawing/2014/main" id="{795579D1-1C47-899A-841D-BC5E92B0A18B}"/>
              </a:ext>
            </a:extLst>
          </p:cNvPr>
          <p:cNvPicPr>
            <a:picLocks noChangeAspect="1"/>
          </p:cNvPicPr>
          <p:nvPr/>
        </p:nvPicPr>
        <p:blipFill>
          <a:blip r:embed="rId5"/>
          <a:stretch>
            <a:fillRect/>
          </a:stretch>
        </p:blipFill>
        <p:spPr>
          <a:xfrm>
            <a:off x="2648655" y="2802725"/>
            <a:ext cx="5483669" cy="3743312"/>
          </a:xfrm>
          <a:prstGeom prst="rect">
            <a:avLst/>
          </a:prstGeom>
        </p:spPr>
      </p:pic>
    </p:spTree>
    <p:custDataLst>
      <p:custData r:id="rId1"/>
      <p:custData r:id="rId2"/>
    </p:custDataLst>
    <p:extLst>
      <p:ext uri="{BB962C8B-B14F-4D97-AF65-F5344CB8AC3E}">
        <p14:creationId xmlns:p14="http://schemas.microsoft.com/office/powerpoint/2010/main" val="32651113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34B67-5BA3-03E1-FD51-84499DA76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9A144-8FBA-F409-439E-7E1961EB1795}"/>
              </a:ext>
            </a:extLst>
          </p:cNvPr>
          <p:cNvSpPr>
            <a:spLocks noGrp="1"/>
          </p:cNvSpPr>
          <p:nvPr>
            <p:ph type="title"/>
          </p:nvPr>
        </p:nvSpPr>
        <p:spPr>
          <a:xfrm>
            <a:off x="584200" y="311963"/>
            <a:ext cx="11018520" cy="553998"/>
          </a:xfrm>
        </p:spPr>
        <p:txBody>
          <a:bodyPr/>
          <a:lstStyle/>
          <a:p>
            <a:r>
              <a:rPr lang="en-US" sz="3600" dirty="0"/>
              <a:t>GPU – visibility &amp; health</a:t>
            </a:r>
          </a:p>
        </p:txBody>
      </p:sp>
      <p:sp>
        <p:nvSpPr>
          <p:cNvPr id="6" name="Content Placeholder 5">
            <a:extLst>
              <a:ext uri="{FF2B5EF4-FFF2-40B4-BE49-F238E27FC236}">
                <a16:creationId xmlns:a16="http://schemas.microsoft.com/office/drawing/2014/main" id="{BEF88F33-A424-DD89-947C-0DEC136159C0}"/>
              </a:ext>
            </a:extLst>
          </p:cNvPr>
          <p:cNvSpPr>
            <a:spLocks noGrp="1"/>
          </p:cNvSpPr>
          <p:nvPr>
            <p:ph sz="quarter" idx="10"/>
          </p:nvPr>
        </p:nvSpPr>
        <p:spPr>
          <a:xfrm>
            <a:off x="583882" y="1218102"/>
            <a:ext cx="11018838" cy="4836927"/>
          </a:xfrm>
        </p:spPr>
        <p:txBody>
          <a:bodyPr/>
          <a:lstStyle/>
          <a:p>
            <a:r>
              <a:rPr lang="en-US" sz="2400" dirty="0">
                <a:highlight>
                  <a:srgbClr val="008080"/>
                </a:highlight>
              </a:rPr>
              <a:t>In a terminal execute </a:t>
            </a:r>
          </a:p>
          <a:p>
            <a:r>
              <a:rPr lang="en-US" sz="2400" dirty="0">
                <a:highlight>
                  <a:srgbClr val="008080"/>
                </a:highlight>
              </a:rPr>
              <a:t>&gt;</a:t>
            </a:r>
            <a:r>
              <a:rPr lang="en-US" sz="2400" dirty="0" err="1">
                <a:highlight>
                  <a:srgbClr val="008080"/>
                </a:highlight>
              </a:rPr>
              <a:t>rocm-smi</a:t>
            </a:r>
            <a:endParaRPr lang="en-US" sz="2400" dirty="0">
              <a:highlight>
                <a:srgbClr val="008080"/>
              </a:highlight>
            </a:endParaRPr>
          </a:p>
          <a:p>
            <a:r>
              <a:rPr lang="en-US" sz="2400" dirty="0">
                <a:highlight>
                  <a:srgbClr val="008080"/>
                </a:highlight>
              </a:rPr>
              <a:t>&gt;</a:t>
            </a:r>
            <a:r>
              <a:rPr lang="en-US" sz="2400" dirty="0" err="1">
                <a:highlight>
                  <a:srgbClr val="008080"/>
                </a:highlight>
              </a:rPr>
              <a:t>rocminfo</a:t>
            </a:r>
            <a:endParaRPr lang="en-US" sz="2400" dirty="0">
              <a:highlight>
                <a:srgbClr val="008080"/>
              </a:highlight>
            </a:endParaRPr>
          </a:p>
        </p:txBody>
      </p:sp>
      <p:pic>
        <p:nvPicPr>
          <p:cNvPr id="8" name="Picture 7">
            <a:extLst>
              <a:ext uri="{FF2B5EF4-FFF2-40B4-BE49-F238E27FC236}">
                <a16:creationId xmlns:a16="http://schemas.microsoft.com/office/drawing/2014/main" id="{9462806A-3106-6542-ED02-CDF4813B1283}"/>
              </a:ext>
            </a:extLst>
          </p:cNvPr>
          <p:cNvPicPr>
            <a:picLocks noChangeAspect="1"/>
          </p:cNvPicPr>
          <p:nvPr/>
        </p:nvPicPr>
        <p:blipFill>
          <a:blip r:embed="rId4"/>
          <a:stretch>
            <a:fillRect/>
          </a:stretch>
        </p:blipFill>
        <p:spPr>
          <a:xfrm>
            <a:off x="5460682" y="1032678"/>
            <a:ext cx="6268325" cy="3962953"/>
          </a:xfrm>
          <a:prstGeom prst="rect">
            <a:avLst/>
          </a:prstGeom>
          <a:effectLst>
            <a:glow rad="127000">
              <a:schemeClr val="accent6">
                <a:lumMod val="75000"/>
              </a:schemeClr>
            </a:glow>
          </a:effectLst>
        </p:spPr>
      </p:pic>
      <p:pic>
        <p:nvPicPr>
          <p:cNvPr id="10" name="Picture 9">
            <a:extLst>
              <a:ext uri="{FF2B5EF4-FFF2-40B4-BE49-F238E27FC236}">
                <a16:creationId xmlns:a16="http://schemas.microsoft.com/office/drawing/2014/main" id="{36AE5F0E-3E29-7E32-2A67-8939936EC200}"/>
              </a:ext>
            </a:extLst>
          </p:cNvPr>
          <p:cNvPicPr>
            <a:picLocks noChangeAspect="1"/>
          </p:cNvPicPr>
          <p:nvPr/>
        </p:nvPicPr>
        <p:blipFill>
          <a:blip r:embed="rId5"/>
          <a:stretch>
            <a:fillRect/>
          </a:stretch>
        </p:blipFill>
        <p:spPr>
          <a:xfrm>
            <a:off x="831805" y="3702145"/>
            <a:ext cx="7531847" cy="2489644"/>
          </a:xfrm>
          <a:prstGeom prst="rect">
            <a:avLst/>
          </a:prstGeom>
          <a:effectLst>
            <a:glow rad="127000">
              <a:schemeClr val="accent6">
                <a:lumMod val="75000"/>
              </a:schemeClr>
            </a:glow>
          </a:effectLst>
        </p:spPr>
      </p:pic>
    </p:spTree>
    <p:custDataLst>
      <p:custData r:id="rId1"/>
      <p:custData r:id="rId2"/>
    </p:custDataLst>
    <p:extLst>
      <p:ext uri="{BB962C8B-B14F-4D97-AF65-F5344CB8AC3E}">
        <p14:creationId xmlns:p14="http://schemas.microsoft.com/office/powerpoint/2010/main" val="113314561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B10E9-B309-2DCF-5F0C-35B361A40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FB4AF-9D84-6262-07C1-095EDC698083}"/>
              </a:ext>
            </a:extLst>
          </p:cNvPr>
          <p:cNvSpPr>
            <a:spLocks noGrp="1"/>
          </p:cNvSpPr>
          <p:nvPr>
            <p:ph type="title"/>
          </p:nvPr>
        </p:nvSpPr>
        <p:spPr>
          <a:xfrm>
            <a:off x="584200" y="311963"/>
            <a:ext cx="11018520" cy="553998"/>
          </a:xfrm>
        </p:spPr>
        <p:txBody>
          <a:bodyPr/>
          <a:lstStyle/>
          <a:p>
            <a:r>
              <a:rPr lang="en-US" sz="3600" dirty="0"/>
              <a:t>Jupyter Cells </a:t>
            </a:r>
          </a:p>
        </p:txBody>
      </p:sp>
      <p:sp>
        <p:nvSpPr>
          <p:cNvPr id="6" name="Content Placeholder 5">
            <a:extLst>
              <a:ext uri="{FF2B5EF4-FFF2-40B4-BE49-F238E27FC236}">
                <a16:creationId xmlns:a16="http://schemas.microsoft.com/office/drawing/2014/main" id="{851DC275-A273-1953-93D7-46EAB62155C8}"/>
              </a:ext>
            </a:extLst>
          </p:cNvPr>
          <p:cNvSpPr>
            <a:spLocks noGrp="1"/>
          </p:cNvSpPr>
          <p:nvPr>
            <p:ph sz="quarter" idx="10"/>
          </p:nvPr>
        </p:nvSpPr>
        <p:spPr>
          <a:xfrm>
            <a:off x="583882" y="1218102"/>
            <a:ext cx="11018838" cy="4836927"/>
          </a:xfrm>
        </p:spPr>
        <p:txBody>
          <a:bodyPr/>
          <a:lstStyle/>
          <a:p>
            <a:r>
              <a:rPr lang="en-US" sz="2400" dirty="0">
                <a:highlight>
                  <a:srgbClr val="008080"/>
                </a:highlight>
              </a:rPr>
              <a:t>Wait for cells to complete  (*) -&gt; (n)</a:t>
            </a:r>
          </a:p>
          <a:p>
            <a:r>
              <a:rPr lang="en-US" sz="2400" dirty="0">
                <a:highlight>
                  <a:srgbClr val="008080"/>
                </a:highlight>
              </a:rPr>
              <a:t>Watch GPU use with </a:t>
            </a:r>
            <a:r>
              <a:rPr lang="en-US" sz="2400" dirty="0" err="1">
                <a:highlight>
                  <a:srgbClr val="008080"/>
                </a:highlight>
              </a:rPr>
              <a:t>rocm-smi</a:t>
            </a:r>
            <a:endParaRPr lang="en-US" sz="2400" dirty="0">
              <a:highlight>
                <a:srgbClr val="008080"/>
              </a:highlight>
            </a:endParaRPr>
          </a:p>
        </p:txBody>
      </p:sp>
      <p:pic>
        <p:nvPicPr>
          <p:cNvPr id="4" name="Picture 3">
            <a:extLst>
              <a:ext uri="{FF2B5EF4-FFF2-40B4-BE49-F238E27FC236}">
                <a16:creationId xmlns:a16="http://schemas.microsoft.com/office/drawing/2014/main" id="{1AD77CE0-073E-4901-3C57-F7771E8CE275}"/>
              </a:ext>
            </a:extLst>
          </p:cNvPr>
          <p:cNvPicPr>
            <a:picLocks noChangeAspect="1"/>
          </p:cNvPicPr>
          <p:nvPr/>
        </p:nvPicPr>
        <p:blipFill>
          <a:blip r:embed="rId4"/>
          <a:stretch>
            <a:fillRect/>
          </a:stretch>
        </p:blipFill>
        <p:spPr>
          <a:xfrm>
            <a:off x="5382042" y="1762606"/>
            <a:ext cx="6444198" cy="4644564"/>
          </a:xfrm>
          <a:prstGeom prst="rect">
            <a:avLst/>
          </a:prstGeom>
          <a:effectLst>
            <a:glow rad="127000">
              <a:schemeClr val="accent6">
                <a:lumMod val="75000"/>
              </a:schemeClr>
            </a:glow>
          </a:effectLst>
        </p:spPr>
      </p:pic>
    </p:spTree>
    <p:custDataLst>
      <p:custData r:id="rId1"/>
      <p:custData r:id="rId2"/>
    </p:custDataLst>
    <p:extLst>
      <p:ext uri="{BB962C8B-B14F-4D97-AF65-F5344CB8AC3E}">
        <p14:creationId xmlns:p14="http://schemas.microsoft.com/office/powerpoint/2010/main" val="41935653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8BDB9-EAD2-5754-CC28-68D1CCE81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93185-26A9-6A8D-254C-57DB84EDA15C}"/>
              </a:ext>
            </a:extLst>
          </p:cNvPr>
          <p:cNvSpPr>
            <a:spLocks noGrp="1"/>
          </p:cNvSpPr>
          <p:nvPr>
            <p:ph type="title"/>
          </p:nvPr>
        </p:nvSpPr>
        <p:spPr>
          <a:xfrm>
            <a:off x="584200" y="311963"/>
            <a:ext cx="11018520" cy="553998"/>
          </a:xfrm>
        </p:spPr>
        <p:txBody>
          <a:bodyPr/>
          <a:lstStyle/>
          <a:p>
            <a:r>
              <a:rPr lang="en-US" sz="3600"/>
              <a:t>Fine-Tuning Complete!</a:t>
            </a:r>
            <a:endParaRPr lang="en-US" sz="3600" dirty="0"/>
          </a:p>
        </p:txBody>
      </p:sp>
      <p:pic>
        <p:nvPicPr>
          <p:cNvPr id="8" name="Content Placeholder 7">
            <a:extLst>
              <a:ext uri="{FF2B5EF4-FFF2-40B4-BE49-F238E27FC236}">
                <a16:creationId xmlns:a16="http://schemas.microsoft.com/office/drawing/2014/main" id="{975D7E3F-EE21-EF7C-FF54-9E7D45543D7B}"/>
              </a:ext>
            </a:extLst>
          </p:cNvPr>
          <p:cNvPicPr>
            <a:picLocks noGrp="1" noChangeAspect="1"/>
          </p:cNvPicPr>
          <p:nvPr>
            <p:ph sz="quarter" idx="10"/>
          </p:nvPr>
        </p:nvPicPr>
        <p:blipFill>
          <a:blip r:embed="rId4"/>
          <a:stretch>
            <a:fillRect/>
          </a:stretch>
        </p:blipFill>
        <p:spPr>
          <a:xfrm>
            <a:off x="584200" y="3448737"/>
            <a:ext cx="9650172" cy="3000794"/>
          </a:xfrm>
          <a:prstGeom prst="rect">
            <a:avLst/>
          </a:prstGeom>
          <a:effectLst>
            <a:glow rad="127000">
              <a:schemeClr val="accent6">
                <a:lumMod val="75000"/>
              </a:schemeClr>
            </a:glow>
          </a:effectLst>
        </p:spPr>
      </p:pic>
      <p:pic>
        <p:nvPicPr>
          <p:cNvPr id="5" name="Picture 4">
            <a:extLst>
              <a:ext uri="{FF2B5EF4-FFF2-40B4-BE49-F238E27FC236}">
                <a16:creationId xmlns:a16="http://schemas.microsoft.com/office/drawing/2014/main" id="{3272F8E7-FDD5-D40D-72EB-BF5299C1AD16}"/>
              </a:ext>
            </a:extLst>
          </p:cNvPr>
          <p:cNvPicPr>
            <a:picLocks noChangeAspect="1"/>
          </p:cNvPicPr>
          <p:nvPr/>
        </p:nvPicPr>
        <p:blipFill>
          <a:blip r:embed="rId5"/>
          <a:stretch>
            <a:fillRect/>
          </a:stretch>
        </p:blipFill>
        <p:spPr>
          <a:xfrm>
            <a:off x="3143240" y="1183565"/>
            <a:ext cx="8459480" cy="4272901"/>
          </a:xfrm>
          <a:prstGeom prst="rect">
            <a:avLst/>
          </a:prstGeom>
          <a:effectLst>
            <a:glow rad="127000">
              <a:schemeClr val="accent6">
                <a:lumMod val="75000"/>
              </a:schemeClr>
            </a:glow>
          </a:effectLst>
        </p:spPr>
      </p:pic>
      <p:sp>
        <p:nvSpPr>
          <p:cNvPr id="9" name="TextBox 8">
            <a:extLst>
              <a:ext uri="{FF2B5EF4-FFF2-40B4-BE49-F238E27FC236}">
                <a16:creationId xmlns:a16="http://schemas.microsoft.com/office/drawing/2014/main" id="{B756239E-9D77-C803-6FA5-419620E33906}"/>
              </a:ext>
            </a:extLst>
          </p:cNvPr>
          <p:cNvSpPr txBox="1"/>
          <p:nvPr/>
        </p:nvSpPr>
        <p:spPr>
          <a:xfrm>
            <a:off x="584200" y="1631576"/>
            <a:ext cx="2156039" cy="369332"/>
          </a:xfrm>
          <a:prstGeom prst="rect">
            <a:avLst/>
          </a:prstGeom>
          <a:noFill/>
        </p:spPr>
        <p:txBody>
          <a:bodyPr wrap="none" lIns="0" tIns="0" rIns="0" bIns="0" rtlCol="0">
            <a:spAutoFit/>
          </a:bodyPr>
          <a:lstStyle/>
          <a:p>
            <a:pPr algn="l">
              <a:buClr>
                <a:schemeClr val="accent1"/>
              </a:buClr>
              <a:buSzPct val="60000"/>
            </a:pPr>
            <a:r>
              <a:rPr lang="en-US" sz="2400" dirty="0">
                <a:highlight>
                  <a:srgbClr val="008080"/>
                </a:highlight>
              </a:rPr>
              <a:t>Demo: 15 steps</a:t>
            </a:r>
          </a:p>
        </p:txBody>
      </p:sp>
    </p:spTree>
    <p:custDataLst>
      <p:custData r:id="rId1"/>
      <p:custData r:id="rId2"/>
    </p:custDataLst>
    <p:extLst>
      <p:ext uri="{BB962C8B-B14F-4D97-AF65-F5344CB8AC3E}">
        <p14:creationId xmlns:p14="http://schemas.microsoft.com/office/powerpoint/2010/main" val="86124549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CFC03-2FC5-AEA7-E391-68806975F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A3E07-1082-9EDA-0E4E-E5E335B021BB}"/>
              </a:ext>
            </a:extLst>
          </p:cNvPr>
          <p:cNvSpPr>
            <a:spLocks noGrp="1"/>
          </p:cNvSpPr>
          <p:nvPr>
            <p:ph type="title"/>
          </p:nvPr>
        </p:nvSpPr>
        <p:spPr>
          <a:xfrm>
            <a:off x="584200" y="311963"/>
            <a:ext cx="11018520" cy="553998"/>
          </a:xfrm>
        </p:spPr>
        <p:txBody>
          <a:bodyPr/>
          <a:lstStyle/>
          <a:p>
            <a:r>
              <a:rPr lang="en-US" sz="3600" dirty="0"/>
              <a:t>Fine-Tuning Trouble Shooting Tips</a:t>
            </a:r>
          </a:p>
        </p:txBody>
      </p:sp>
      <p:graphicFrame>
        <p:nvGraphicFramePr>
          <p:cNvPr id="3" name="Content Placeholder 2">
            <a:extLst>
              <a:ext uri="{FF2B5EF4-FFF2-40B4-BE49-F238E27FC236}">
                <a16:creationId xmlns:a16="http://schemas.microsoft.com/office/drawing/2014/main" id="{78662D0C-E431-9C53-4EF9-4F94B9591C91}"/>
              </a:ext>
            </a:extLst>
          </p:cNvPr>
          <p:cNvGraphicFramePr>
            <a:graphicFrameLocks noGrp="1"/>
          </p:cNvGraphicFramePr>
          <p:nvPr>
            <p:ph sz="quarter" idx="10"/>
            <p:extLst>
              <p:ext uri="{D42A27DB-BD31-4B8C-83A1-F6EECF244321}">
                <p14:modId xmlns:p14="http://schemas.microsoft.com/office/powerpoint/2010/main" val="1053068166"/>
              </p:ext>
            </p:extLst>
          </p:nvPr>
        </p:nvGraphicFramePr>
        <p:xfrm>
          <a:off x="584200" y="1091266"/>
          <a:ext cx="11018838" cy="5039360"/>
        </p:xfrm>
        <a:graphic>
          <a:graphicData uri="http://schemas.openxmlformats.org/drawingml/2006/table">
            <a:tbl>
              <a:tblPr firstRow="1" bandRow="1">
                <a:tableStyleId>{5C22544A-7EE6-4342-B048-85BDC9FD1C3A}</a:tableStyleId>
              </a:tblPr>
              <a:tblGrid>
                <a:gridCol w="3969871">
                  <a:extLst>
                    <a:ext uri="{9D8B030D-6E8A-4147-A177-3AD203B41FA5}">
                      <a16:colId xmlns:a16="http://schemas.microsoft.com/office/drawing/2014/main" val="1228572442"/>
                    </a:ext>
                  </a:extLst>
                </a:gridCol>
                <a:gridCol w="7048967">
                  <a:extLst>
                    <a:ext uri="{9D8B030D-6E8A-4147-A177-3AD203B41FA5}">
                      <a16:colId xmlns:a16="http://schemas.microsoft.com/office/drawing/2014/main" val="1401820881"/>
                    </a:ext>
                  </a:extLst>
                </a:gridCol>
              </a:tblGrid>
              <a:tr h="370840">
                <a:tc>
                  <a:txBody>
                    <a:bodyPr/>
                    <a:lstStyle/>
                    <a:p>
                      <a:r>
                        <a:rPr lang="en-US" dirty="0"/>
                        <a:t>Symptom</a:t>
                      </a:r>
                    </a:p>
                  </a:txBody>
                  <a:tcPr>
                    <a:solidFill>
                      <a:schemeClr val="accent6">
                        <a:lumMod val="75000"/>
                      </a:schemeClr>
                    </a:solidFill>
                  </a:tcPr>
                </a:tc>
                <a:tc>
                  <a:txBody>
                    <a:bodyPr/>
                    <a:lstStyle/>
                    <a:p>
                      <a:r>
                        <a:rPr lang="en-US" dirty="0"/>
                        <a:t>Fix</a:t>
                      </a:r>
                    </a:p>
                  </a:txBody>
                  <a:tcPr>
                    <a:solidFill>
                      <a:schemeClr val="accent6">
                        <a:lumMod val="75000"/>
                      </a:schemeClr>
                    </a:solidFill>
                  </a:tcPr>
                </a:tc>
                <a:extLst>
                  <a:ext uri="{0D108BD9-81ED-4DB2-BD59-A6C34878D82A}">
                    <a16:rowId xmlns:a16="http://schemas.microsoft.com/office/drawing/2014/main" val="1125419112"/>
                  </a:ext>
                </a:extLst>
              </a:tr>
              <a:tr h="370840">
                <a:tc>
                  <a:txBody>
                    <a:bodyPr/>
                    <a:lstStyle/>
                    <a:p>
                      <a:r>
                        <a:rPr lang="en-US" dirty="0"/>
                        <a:t>First chat response times out</a:t>
                      </a:r>
                    </a:p>
                  </a:txBody>
                  <a:tcPr/>
                </a:tc>
                <a:tc>
                  <a:txBody>
                    <a:bodyPr/>
                    <a:lstStyle/>
                    <a:p>
                      <a:r>
                        <a:rPr lang="en-US" dirty="0"/>
                        <a:t>Cold model load. Retry; the warm model responds faster</a:t>
                      </a:r>
                    </a:p>
                  </a:txBody>
                  <a:tcPr/>
                </a:tc>
                <a:extLst>
                  <a:ext uri="{0D108BD9-81ED-4DB2-BD59-A6C34878D82A}">
                    <a16:rowId xmlns:a16="http://schemas.microsoft.com/office/drawing/2014/main" val="2641576864"/>
                  </a:ext>
                </a:extLst>
              </a:tr>
              <a:tr h="370840">
                <a:tc>
                  <a:txBody>
                    <a:bodyPr/>
                    <a:lstStyle/>
                    <a:p>
                      <a:r>
                        <a:rPr lang="en-US" dirty="0"/>
                        <a:t>Training data format issues</a:t>
                      </a:r>
                    </a:p>
                  </a:txBody>
                  <a:tcPr/>
                </a:tc>
                <a:tc>
                  <a:txBody>
                    <a:bodyPr/>
                    <a:lstStyle/>
                    <a:p>
                      <a:r>
                        <a:rPr lang="en-US" dirty="0"/>
                        <a:t>Check it. Use Alpaca fields</a:t>
                      </a:r>
                    </a:p>
                    <a:p>
                      <a:r>
                        <a:rPr lang="en-US" sz="1800" b="0" kern="1200" dirty="0">
                          <a:solidFill>
                            <a:schemeClr val="dk1"/>
                          </a:solidFill>
                          <a:effectLst/>
                          <a:latin typeface="+mn-lt"/>
                          <a:ea typeface="+mn-ea"/>
                          <a:cs typeface="+mn-cs"/>
                        </a:rPr>
                        <a:t>{"instruction": "Summarize in one line.", "input": "&lt;article text&gt;", "output": "&lt;summary&gt;"}</a:t>
                      </a:r>
                    </a:p>
                    <a:p>
                      <a:r>
                        <a:rPr lang="en-US" sz="1800" b="0" kern="1200" dirty="0">
                          <a:solidFill>
                            <a:schemeClr val="dk1"/>
                          </a:solidFill>
                          <a:effectLst/>
                          <a:latin typeface="+mn-lt"/>
                          <a:ea typeface="+mn-ea"/>
                          <a:cs typeface="+mn-cs"/>
                        </a:rPr>
                        <a:t>{"instruction": "Translate to French.", "input": "Good morning", "output": "Bonjour"}</a:t>
                      </a:r>
                    </a:p>
                  </a:txBody>
                  <a:tcPr/>
                </a:tc>
                <a:extLst>
                  <a:ext uri="{0D108BD9-81ED-4DB2-BD59-A6C34878D82A}">
                    <a16:rowId xmlns:a16="http://schemas.microsoft.com/office/drawing/2014/main" val="450784202"/>
                  </a:ext>
                </a:extLst>
              </a:tr>
              <a:tr h="370840">
                <a:tc>
                  <a:txBody>
                    <a:bodyPr/>
                    <a:lstStyle/>
                    <a:p>
                      <a:r>
                        <a:rPr lang="en-US" dirty="0"/>
                        <a:t>Out-of-memory during training</a:t>
                      </a:r>
                    </a:p>
                  </a:txBody>
                  <a:tcPr/>
                </a:tc>
                <a:tc>
                  <a:txBody>
                    <a:bodyPr/>
                    <a:lstStyle/>
                    <a:p>
                      <a:r>
                        <a:rPr lang="en-US" dirty="0"/>
                        <a:t>Use a smaller model, enable </a:t>
                      </a:r>
                      <a:r>
                        <a:rPr lang="en-US" dirty="0" err="1"/>
                        <a:t>QLoRA</a:t>
                      </a:r>
                      <a:r>
                        <a:rPr lang="en-US" dirty="0"/>
                        <a:t> (4-bit), lower batch size or sequence length</a:t>
                      </a:r>
                    </a:p>
                  </a:txBody>
                  <a:tcPr/>
                </a:tc>
                <a:extLst>
                  <a:ext uri="{0D108BD9-81ED-4DB2-BD59-A6C34878D82A}">
                    <a16:rowId xmlns:a16="http://schemas.microsoft.com/office/drawing/2014/main" val="3213820961"/>
                  </a:ext>
                </a:extLst>
              </a:tr>
              <a:tr h="370840">
                <a:tc>
                  <a:txBody>
                    <a:bodyPr/>
                    <a:lstStyle/>
                    <a:p>
                      <a:r>
                        <a:rPr lang="en-US" dirty="0"/>
                        <a:t>Loss not decreasing</a:t>
                      </a:r>
                    </a:p>
                  </a:txBody>
                  <a:tcPr/>
                </a:tc>
                <a:tc>
                  <a:txBody>
                    <a:bodyPr/>
                    <a:lstStyle/>
                    <a:p>
                      <a:r>
                        <a:rPr lang="en-US" dirty="0"/>
                        <a:t>Raise learning rate a little, train more streps, or check that your dataset format is correct</a:t>
                      </a:r>
                    </a:p>
                  </a:txBody>
                  <a:tcPr/>
                </a:tc>
                <a:extLst>
                  <a:ext uri="{0D108BD9-81ED-4DB2-BD59-A6C34878D82A}">
                    <a16:rowId xmlns:a16="http://schemas.microsoft.com/office/drawing/2014/main" val="1109494269"/>
                  </a:ext>
                </a:extLst>
              </a:tr>
              <a:tr h="370840">
                <a:tc>
                  <a:txBody>
                    <a:bodyPr/>
                    <a:lstStyle/>
                    <a:p>
                      <a:r>
                        <a:rPr lang="en-US" dirty="0"/>
                        <a:t>Cell not completing</a:t>
                      </a:r>
                    </a:p>
                  </a:txBody>
                  <a:tcPr/>
                </a:tc>
                <a:tc>
                  <a:txBody>
                    <a:bodyPr/>
                    <a:lstStyle/>
                    <a:p>
                      <a:r>
                        <a:rPr lang="en-US" dirty="0"/>
                        <a:t>In a terminal execute </a:t>
                      </a:r>
                      <a:r>
                        <a:rPr lang="en-US" dirty="0" err="1"/>
                        <a:t>rocm-smi</a:t>
                      </a:r>
                      <a:r>
                        <a:rPr lang="en-US" dirty="0"/>
                        <a:t> to see GPU, memory usage. GPU use drops to zero when done training.</a:t>
                      </a:r>
                    </a:p>
                  </a:txBody>
                  <a:tcPr/>
                </a:tc>
                <a:extLst>
                  <a:ext uri="{0D108BD9-81ED-4DB2-BD59-A6C34878D82A}">
                    <a16:rowId xmlns:a16="http://schemas.microsoft.com/office/drawing/2014/main" val="125801769"/>
                  </a:ext>
                </a:extLst>
              </a:tr>
              <a:tr h="370840">
                <a:tc>
                  <a:txBody>
                    <a:bodyPr/>
                    <a:lstStyle/>
                    <a:p>
                      <a:r>
                        <a:rPr lang="en-US" dirty="0"/>
                        <a:t>Need good first experiment ideas?</a:t>
                      </a:r>
                    </a:p>
                  </a:txBody>
                  <a:tcPr/>
                </a:tc>
                <a:tc>
                  <a:txBody>
                    <a:bodyPr/>
                    <a:lstStyle/>
                    <a:p>
                      <a:r>
                        <a:rPr lang="en-US" dirty="0"/>
                        <a:t>Use SFT initially to speed learning. HF has data sets</a:t>
                      </a:r>
                    </a:p>
                    <a:p>
                      <a:r>
                        <a:rPr lang="en-US" dirty="0"/>
                        <a:t>Try product related finetuning with Q&amp;A pairs</a:t>
                      </a:r>
                    </a:p>
                    <a:p>
                      <a:r>
                        <a:rPr lang="en-US" dirty="0"/>
                        <a:t>GRPO – explore a math dataset where correct answers available</a:t>
                      </a:r>
                    </a:p>
                  </a:txBody>
                  <a:tcPr/>
                </a:tc>
                <a:extLst>
                  <a:ext uri="{0D108BD9-81ED-4DB2-BD59-A6C34878D82A}">
                    <a16:rowId xmlns:a16="http://schemas.microsoft.com/office/drawing/2014/main" val="4257327237"/>
                  </a:ext>
                </a:extLst>
              </a:tr>
            </a:tbl>
          </a:graphicData>
        </a:graphic>
      </p:graphicFrame>
    </p:spTree>
    <p:custDataLst>
      <p:custData r:id="rId1"/>
      <p:custData r:id="rId2"/>
    </p:custDataLst>
    <p:extLst>
      <p:ext uri="{BB962C8B-B14F-4D97-AF65-F5344CB8AC3E}">
        <p14:creationId xmlns:p14="http://schemas.microsoft.com/office/powerpoint/2010/main" val="279194608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2082F-F7D3-5CCC-810D-D39A56108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5C1A8-82A5-08B2-3CFC-A0A4AE058CE8}"/>
              </a:ext>
            </a:extLst>
          </p:cNvPr>
          <p:cNvSpPr>
            <a:spLocks noGrp="1"/>
          </p:cNvSpPr>
          <p:nvPr>
            <p:ph type="title"/>
          </p:nvPr>
        </p:nvSpPr>
        <p:spPr>
          <a:xfrm>
            <a:off x="584200" y="311963"/>
            <a:ext cx="11018520" cy="553998"/>
          </a:xfrm>
        </p:spPr>
        <p:txBody>
          <a:bodyPr/>
          <a:lstStyle/>
          <a:p>
            <a:r>
              <a:rPr lang="en-US" sz="3600" dirty="0"/>
              <a:t>Learn More!</a:t>
            </a:r>
          </a:p>
        </p:txBody>
      </p:sp>
      <p:sp>
        <p:nvSpPr>
          <p:cNvPr id="3" name="Content Placeholder 2">
            <a:extLst>
              <a:ext uri="{FF2B5EF4-FFF2-40B4-BE49-F238E27FC236}">
                <a16:creationId xmlns:a16="http://schemas.microsoft.com/office/drawing/2014/main" id="{251A0BEB-8049-2D31-4565-B2CA4599AFB3}"/>
              </a:ext>
            </a:extLst>
          </p:cNvPr>
          <p:cNvSpPr>
            <a:spLocks noGrp="1"/>
          </p:cNvSpPr>
          <p:nvPr>
            <p:ph sz="quarter" idx="10"/>
          </p:nvPr>
        </p:nvSpPr>
        <p:spPr>
          <a:xfrm>
            <a:off x="584200" y="1227160"/>
            <a:ext cx="11018838" cy="4836927"/>
          </a:xfrm>
        </p:spPr>
        <p:txBody>
          <a:bodyPr/>
          <a:lstStyle/>
          <a:p>
            <a:r>
              <a:rPr lang="en-US" sz="2400" dirty="0"/>
              <a:t>Unsloth: </a:t>
            </a:r>
            <a:r>
              <a:rPr lang="en-US" sz="2400" dirty="0">
                <a:hlinkClick r:id="rId4"/>
              </a:rPr>
              <a:t>https://github.com/unslothai/unsloth</a:t>
            </a:r>
            <a:r>
              <a:rPr lang="en-US" sz="2400" dirty="0"/>
              <a:t> </a:t>
            </a:r>
          </a:p>
          <a:p>
            <a:r>
              <a:rPr lang="en-US" sz="2400" dirty="0"/>
              <a:t>Unsloth docs: </a:t>
            </a:r>
            <a:r>
              <a:rPr lang="en-US" sz="2400" dirty="0">
                <a:hlinkClick r:id="rId5"/>
              </a:rPr>
              <a:t>https://docs.unsloth.ai</a:t>
            </a:r>
            <a:r>
              <a:rPr lang="en-US" sz="2400" dirty="0"/>
              <a:t> </a:t>
            </a:r>
          </a:p>
          <a:p>
            <a:r>
              <a:rPr lang="en-US" sz="2400" dirty="0" err="1"/>
              <a:t>LoRA</a:t>
            </a:r>
            <a:r>
              <a:rPr lang="en-US" sz="2400" dirty="0"/>
              <a:t> paper: </a:t>
            </a:r>
            <a:r>
              <a:rPr lang="en-US" sz="2400" dirty="0">
                <a:hlinkClick r:id="rId6"/>
              </a:rPr>
              <a:t>https://arxiv.org/abs/2106.09685</a:t>
            </a:r>
            <a:r>
              <a:rPr lang="en-US" sz="2400" dirty="0"/>
              <a:t> </a:t>
            </a:r>
          </a:p>
          <a:p>
            <a:r>
              <a:rPr lang="en-US" sz="2400" dirty="0" err="1"/>
              <a:t>QLoRA</a:t>
            </a:r>
            <a:r>
              <a:rPr lang="en-US" sz="2400" dirty="0"/>
              <a:t> paper: </a:t>
            </a:r>
            <a:r>
              <a:rPr lang="en-US" sz="2400" dirty="0">
                <a:hlinkClick r:id="rId7"/>
              </a:rPr>
              <a:t>https://arxiv.org/abs/2305.14314</a:t>
            </a:r>
            <a:r>
              <a:rPr lang="en-US" sz="2400" dirty="0"/>
              <a:t> </a:t>
            </a:r>
          </a:p>
          <a:p>
            <a:r>
              <a:rPr lang="en-US" sz="2400" dirty="0"/>
              <a:t>GRPO / </a:t>
            </a:r>
            <a:r>
              <a:rPr lang="en-US" sz="2400" dirty="0" err="1"/>
              <a:t>DeepSeekMath</a:t>
            </a:r>
            <a:r>
              <a:rPr lang="en-US" sz="2400" dirty="0"/>
              <a:t>: </a:t>
            </a:r>
            <a:r>
              <a:rPr lang="en-US" sz="2400" dirty="0">
                <a:hlinkClick r:id="rId8"/>
              </a:rPr>
              <a:t>https://arxiv.org/abs/2402.03300</a:t>
            </a:r>
            <a:r>
              <a:rPr lang="en-US" sz="2400" dirty="0"/>
              <a:t> </a:t>
            </a:r>
          </a:p>
        </p:txBody>
      </p:sp>
    </p:spTree>
    <p:custDataLst>
      <p:custData r:id="rId1"/>
      <p:custData r:id="rId2"/>
    </p:custDataLst>
    <p:extLst>
      <p:ext uri="{BB962C8B-B14F-4D97-AF65-F5344CB8AC3E}">
        <p14:creationId xmlns:p14="http://schemas.microsoft.com/office/powerpoint/2010/main" val="289157261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897248901"/>
      </p:ext>
    </p:extLst>
  </p:cSld>
  <p:clrMapOvr>
    <a:masterClrMapping/>
  </p:clrMapOvr>
  <p:transition>
    <p:fade/>
  </p:transition>
</p:sld>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16x9 Presentation - Corporate Black Background - 2024 update -v1.2" id="{952D021A-6A0B-49CB-832E-9DCCDC055701}" vid="{8B090628-2708-4125-B695-55346B67B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SlideTemplateConfiguration><![CDATA[{"slideVersion":1,"isValidatorEnabled":false,"isLocked":false,"elementsMetadata":[],"slideId":"637629098780802172","enableDocumentContentUpdater":true,"version":"2.0"}]]></TemplafySlideTemplateConfiguration>
</file>

<file path=customXml/item3.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4.xml><?xml version="1.0" encoding="utf-8"?>
<TemplafySlideTemplateConfiguration><![CDATA[{"slideVersion":1,"isValidatorEnabled":false,"isLocked":false,"elementsMetadata":[],"slideId":"637629098780805369","enableDocumentContentUpdater":true,"version":"2.0"}]]></TemplafySlideTemplateConfiguration>
</file>

<file path=customXml/item5.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TemplafySlideTemplateConfiguration><![CDATA[{"slideVersion":1,"isValidatorEnabled":false,"isLocked":false,"elementsMetadata":[],"slideId":"637629098780944294","enableDocumentContentUpdater":true,"version":"2.0"}]]></TemplafySlideTemplateConfiguration>
</file>

<file path=customXml/item9.xml><?xml version="1.0" encoding="utf-8"?>
<TemplafySlideTemplateConfiguration><![CDATA[{"slideVersion":1,"isValidatorEnabled":false,"isLocked":false,"elementsMetadata":[],"slideId":"637629098780808397","enableDocumentContentUpdater":true,"version":"2.0"}]]></TemplafySlideTemplateConfiguration>
</file>

<file path=customXml/item10.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e4aa919a-b200-49cb-beca-4c7e0810321e" xsi:nil="true"/>
  </documentManagement>
</p:properties>
</file>

<file path=customXml/item11.xml><?xml version="1.0" encoding="utf-8"?>
<ct:contentTypeSchema xmlns:ct="http://schemas.microsoft.com/office/2006/metadata/contentType" xmlns:ma="http://schemas.microsoft.com/office/2006/metadata/properties/metaAttributes" ct:_="" ma:_="" ma:contentTypeName="Document" ma:contentTypeID="0x010100778A2EBC6E34694C80F43E94FCA993B5" ma:contentTypeVersion="14" ma:contentTypeDescription="Create a new document." ma:contentTypeScope="" ma:versionID="1a7ced39ac191f9ec8deffde533b0c1c">
  <xsd:schema xmlns:xsd="http://www.w3.org/2001/XMLSchema" xmlns:xs="http://www.w3.org/2001/XMLSchema" xmlns:p="http://schemas.microsoft.com/office/2006/metadata/properties" xmlns:ns1="http://schemas.microsoft.com/sharepoint/v3" xmlns:ns2="e4aa919a-b200-49cb-beca-4c7e0810321e" xmlns:ns3="06670dda-0291-4061-b6e0-f6c0cb392c51" targetNamespace="http://schemas.microsoft.com/office/2006/metadata/properties" ma:root="true" ma:fieldsID="bedea8c8816a4e5934c808becd103583" ns1:_="" ns2:_="" ns3:_="">
    <xsd:import namespace="http://schemas.microsoft.com/sharepoint/v3"/>
    <xsd:import namespace="e4aa919a-b200-49cb-beca-4c7e0810321e"/>
    <xsd:import namespace="06670dda-0291-4061-b6e0-f6c0cb392c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a919a-b200-49cb-beca-4c7e081032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fals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670dda-0291-4061-b6e0-f6c0cb392c5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TemplafySlideTemplateConfiguration><![CDATA[{"slideVersion":1,"isValidatorEnabled":false,"isLocked":false,"elementsMetadata":[],"slideId":"637629098780808397","enableDocumentContentUpdater":true,"version":"2.0"}]]></TemplafySlideTemplateConfiguration>
</file>

<file path=customXml/item15.xml><?xml version="1.0" encoding="utf-8"?>
<TemplafySlideFormConfiguration><![CDATA[{"formFields":[],"formDataEntries":[]}]]></TemplafySlideFormConfiguration>
</file>

<file path=customXml/item16.xml><?xml version="1.0" encoding="utf-8"?>
<TemplafySlideFormConfiguration><![CDATA[{"formFields":[],"formDataEntries":[]}]]></TemplafySlideFormConfiguration>
</file>

<file path=customXml/item17.xml><?xml version="1.0" encoding="utf-8"?>
<TemplafySlideTemplateConfiguration><![CDATA[{"slideVersion":1,"isValidatorEnabled":false,"isLocked":false,"elementsMetadata":[],"slideId":"637629098780808397","enableDocumentContentUpdater":true,"version":"2.0"}]]></TemplafySlideTemplateConfiguration>
</file>

<file path=customXml/item18.xml><?xml version="1.0" encoding="utf-8"?>
<TemplafySlideTemplateConfiguration><![CDATA[{"slideVersion":1,"isValidatorEnabled":false,"isLocked":false,"elementsMetadata":[],"slideId":"637629098780808397","enableDocumentContentUpdater":tru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1,"isValidatorEnabled":false,"isLocked":false,"elementsMetadata":[],"slideId":"637629098780808397","enableDocumentContentUpdater":true,"version":"2.0"}]]></TemplafySlideTemplate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TemplateConfiguration><![CDATA[{"slideVersion":1,"isValidatorEnabled":false,"isLocked":false,"elementsMetadata":[],"slideId":"637629098780808397","enableDocumentContentUpdater":true,"version":"2.0"}]]></TemplafySlideTemplateConfiguration>
</file>

<file path=customXml/item24.xml><?xml version="1.0" encoding="utf-8"?>
<TemplafySlideFormConfiguration><![CDATA[{"formFields":[],"formDataEntries":[]}]]></TemplafySlideFormConfiguration>
</file>

<file path=customXml/item25.xml><?xml version="1.0" encoding="utf-8"?>
<TemplafySlideTemplateConfiguration><![CDATA[{"slideVersion":1,"isValidatorEnabled":false,"isLocked":false,"elementsMetadata":[],"slideId":"637629098780808397","enableDocumentContentUpdater":true,"version":"2.0"}]]></TemplafySlideTemplateConfiguration>
</file>

<file path=customXml/item26.xml><?xml version="1.0" encoding="utf-8"?>
<TemplafySlideTemplateConfiguration><![CDATA[{"slideVersion":1,"isValidatorEnabled":false,"isLocked":false,"elementsMetadata":[],"slideId":"637629098780808397","enableDocumentContentUpdater":true,"version":"2.0"}]]></TemplafySlideTemplateConfiguration>
</file>

<file path=customXml/item27.xml><?xml version="1.0" encoding="utf-8"?>
<TemplafySlideFormConfiguration><![CDATA[{"formFields":[],"formDataEntries":[]}]]></TemplafySlideFormConfiguration>
</file>

<file path=customXml/item28.xml><?xml version="1.0" encoding="utf-8"?>
<TemplafySlideTemplateConfiguration><![CDATA[{"slideVersion":1,"isValidatorEnabled":false,"isLocked":false,"elementsMetadata":[],"slideId":"637629098780808397","enableDocumentContentUpdater":true,"version":"2.0"}]]></TemplafySlideTemplateConfiguration>
</file>

<file path=customXml/item29.xml><?xml version="1.0" encoding="utf-8"?>
<TemplafySlideFormConfiguration><![CDATA[{"formFields":[],"formDataEntries":[]}]]></TemplafySlideFormConfiguration>
</file>

<file path=customXml/item30.xml><?xml version="1.0" encoding="utf-8"?>
<TemplafySlideFormConfiguration><![CDATA[{"formFields":[],"formDataEntries":[]}]]></TemplafySlideFormConfiguration>
</file>

<file path=customXml/item31.xml><?xml version="1.0" encoding="utf-8"?>
<TemplafySlideTemplateConfiguration><![CDATA[{"slideVersion":1,"isValidatorEnabled":false,"isLocked":false,"elementsMetadata":[],"slideId":"637629098780808397","enableDocumentContentUpdater":true,"version":"2.0"}]]></TemplafySlideTemplateConfiguration>
</file>

<file path=customXml/item32.xml><?xml version="1.0" encoding="utf-8"?>
<TemplafySlideFormConfiguration><![CDATA[{"formFields":[],"formDataEntries":[]}]]></TemplafySlideFormConfiguration>
</file>

<file path=customXml/item33.xml><?xml version="1.0" encoding="utf-8"?>
<TemplafySlideTemplateConfiguration><![CDATA[{"slideVersion":1,"isValidatorEnabled":false,"isLocked":false,"elementsMetadata":[],"slideId":"637629098780808397","enableDocumentContentUpdater":true,"version":"2.0"}]]></TemplafySlideTemplateConfiguration>
</file>

<file path=customXml/item34.xml><?xml version="1.0" encoding="utf-8"?>
<TemplafySlideFormConfiguration><![CDATA[{"formFields":[],"formDataEntries":[]}]]></TemplafySlideFormConfiguration>
</file>

<file path=customXml/item35.xml><?xml version="1.0" encoding="utf-8"?>
<TemplafySlideTemplateConfiguration><![CDATA[{"slideVersion":1,"isValidatorEnabled":false,"isLocked":false,"elementsMetadata":[],"slideId":"637629098780808397","enableDocumentContentUpdater":true,"version":"2.0"}]]></TemplafySlideTemplateConfiguration>
</file>

<file path=customXml/item36.xml><?xml version="1.0" encoding="utf-8"?>
<TemplafySlideTemplateConfiguration><![CDATA[{"slideVersion":1,"isValidatorEnabled":false,"isLocked":false,"elementsMetadata":[],"slideId":"637629098780808397","enableDocumentContentUpdater":true,"version":"2.0"}]]></TemplafySlideTemplateConfiguration>
</file>

<file path=customXml/item37.xml><?xml version="1.0" encoding="utf-8"?>
<TemplafySlideFormConfiguration><![CDATA[{"formFields":[],"formDataEntries":[]}]]></TemplafySlideFormConfiguration>
</file>

<file path=customXml/item38.xml><?xml version="1.0" encoding="utf-8"?>
<TemplafySlideFormConfiguration><![CDATA[{"formFields":[],"formDataEntries":[]}]]></TemplafySlideFormConfiguration>
</file>

<file path=customXml/item39.xml><?xml version="1.0" encoding="utf-8"?>
<TemplafySlideTemplateConfiguration><![CDATA[{"slideVersion":1,"isValidatorEnabled":false,"isLocked":false,"elementsMetadata":[],"slideId":"637629098780808397","enableDocumentContentUpdater":true,"version":"2.0"}]]></TemplafySlideTemplateConfiguration>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BE3BB7DD-0C86-4747-A387-5C5D191BB970}">
  <ds:schemaRefs/>
</ds:datastoreItem>
</file>

<file path=customXml/itemProps3.xml><?xml version="1.0" encoding="utf-8"?>
<ds:datastoreItem xmlns:ds="http://schemas.openxmlformats.org/officeDocument/2006/customXml" ds:itemID="{43BC5722-1D5B-4915-8247-E6D5F513E549}">
  <ds:schemaRefs/>
</ds:datastoreItem>
</file>

<file path=customXml/itemProps4.xml><?xml version="1.0" encoding="utf-8"?>
<ds:datastoreItem xmlns:ds="http://schemas.openxmlformats.org/officeDocument/2006/customXml" ds:itemID="{95AE8F77-448C-4B7C-8669-DC6D4241F9CE}">
  <ds:schemaRefs/>
</ds:datastoreItem>
</file>

<file path=customXml/itemProps5.xml><?xml version="1.0" encoding="utf-8"?>
<ds:datastoreItem xmlns:ds="http://schemas.openxmlformats.org/officeDocument/2006/customXml" ds:itemID="{6291F803-2EF0-4E47-96D6-4796950CE6BD}">
  <ds:schemaRefs/>
</ds:datastoreItem>
</file>

<file path=customXml/itemProps6.xml><?xml version="1.0" encoding="utf-8"?>
<ds:datastoreItem xmlns:ds="http://schemas.openxmlformats.org/officeDocument/2006/customXml" ds:itemID="{3D719615-E8C3-42D3-B19D-076A1FC4620D}">
  <ds:schemaRefs/>
</ds:datastoreItem>
</file>

<file path=customXml/itemProps7.xml><?xml version="1.0" encoding="utf-8"?>
<ds:datastoreItem xmlns:ds="http://schemas.openxmlformats.org/officeDocument/2006/customXml" ds:itemID="{C5DD1971-334A-45E9-9D2B-FB6BD8AAE58A}">
  <ds:schemaRefs/>
</ds:datastoreItem>
</file>

<file path=customXml/itemProps8.xml><?xml version="1.0" encoding="utf-8"?>
<ds:datastoreItem xmlns:ds="http://schemas.openxmlformats.org/officeDocument/2006/customXml" ds:itemID="{1AB4A281-5EBA-4CA1-A536-6B29C98890B6}">
  <ds:schemaRefs/>
</ds:datastoreItem>
</file>

<file path=customXml/itemProps9.xml><?xml version="1.0" encoding="utf-8"?>
<ds:datastoreItem xmlns:ds="http://schemas.openxmlformats.org/officeDocument/2006/customXml" ds:itemID="{1BCEDA00-0BCE-4F19-A380-8AED6A66E762}">
  <ds:schemaRefs/>
</ds:datastoreItem>
</file>

<file path=customXml/itemProps10.xml><?xml version="1.0" encoding="utf-8"?>
<ds:datastoreItem xmlns:ds="http://schemas.openxmlformats.org/officeDocument/2006/customXml" ds:itemID="{F990F116-B58F-4255-B05B-DA3808E0E5C6}">
  <ds:schemaRefs>
    <ds:schemaRef ds:uri="http://schemas.microsoft.com/office/infopath/2007/PartnerControls"/>
    <ds:schemaRef ds:uri="http://schemas.openxmlformats.org/package/2006/metadata/core-properties"/>
    <ds:schemaRef ds:uri="http://www.w3.org/XML/1998/namespace"/>
    <ds:schemaRef ds:uri="06670dda-0291-4061-b6e0-f6c0cb392c51"/>
    <ds:schemaRef ds:uri="http://schemas.microsoft.com/office/2006/metadata/properties"/>
    <ds:schemaRef ds:uri="http://schemas.microsoft.com/office/2006/documentManagement/types"/>
    <ds:schemaRef ds:uri="http://purl.org/dc/terms/"/>
    <ds:schemaRef ds:uri="http://purl.org/dc/elements/1.1/"/>
    <ds:schemaRef ds:uri="e4aa919a-b200-49cb-beca-4c7e0810321e"/>
    <ds:schemaRef ds:uri="http://schemas.microsoft.com/sharepoint/v3"/>
    <ds:schemaRef ds:uri="http://purl.org/dc/dcmitype/"/>
  </ds:schemaRefs>
</ds:datastoreItem>
</file>

<file path=customXml/itemProps11.xml><?xml version="1.0" encoding="utf-8"?>
<ds:datastoreItem xmlns:ds="http://schemas.openxmlformats.org/officeDocument/2006/customXml" ds:itemID="{0BB3C309-8520-4616-80FC-2CB10D5B83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4aa919a-b200-49cb-beca-4c7e0810321e"/>
    <ds:schemaRef ds:uri="06670dda-0291-4061-b6e0-f6c0cb392c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2.xml><?xml version="1.0" encoding="utf-8"?>
<ds:datastoreItem xmlns:ds="http://schemas.openxmlformats.org/officeDocument/2006/customXml" ds:itemID="{DDCC6A1B-7673-40E9-AC3E-C0D8F2784A83}">
  <ds:schemaRefs/>
</ds:datastoreItem>
</file>

<file path=customXml/itemProps13.xml><?xml version="1.0" encoding="utf-8"?>
<ds:datastoreItem xmlns:ds="http://schemas.openxmlformats.org/officeDocument/2006/customXml" ds:itemID="{0A230136-8CEC-4C29-A55A-F5FA83CA887A}">
  <ds:schemaRefs/>
</ds:datastoreItem>
</file>

<file path=customXml/itemProps14.xml><?xml version="1.0" encoding="utf-8"?>
<ds:datastoreItem xmlns:ds="http://schemas.openxmlformats.org/officeDocument/2006/customXml" ds:itemID="{8B10B0A8-FC44-4EAF-9ECF-F5C2E5463C9E}">
  <ds:schemaRefs/>
</ds:datastoreItem>
</file>

<file path=customXml/itemProps15.xml><?xml version="1.0" encoding="utf-8"?>
<ds:datastoreItem xmlns:ds="http://schemas.openxmlformats.org/officeDocument/2006/customXml" ds:itemID="{C302E588-C3B5-43F7-BA02-FD8602E9DB66}">
  <ds:schemaRefs/>
</ds:datastoreItem>
</file>

<file path=customXml/itemProps16.xml><?xml version="1.0" encoding="utf-8"?>
<ds:datastoreItem xmlns:ds="http://schemas.openxmlformats.org/officeDocument/2006/customXml" ds:itemID="{A3B0205F-710A-4762-8822-A7FE128B1E4F}">
  <ds:schemaRefs/>
</ds:datastoreItem>
</file>

<file path=customXml/itemProps17.xml><?xml version="1.0" encoding="utf-8"?>
<ds:datastoreItem xmlns:ds="http://schemas.openxmlformats.org/officeDocument/2006/customXml" ds:itemID="{8BA48ECB-5CD5-4B9D-A19D-96CD35DDBE4F}">
  <ds:schemaRefs/>
</ds:datastoreItem>
</file>

<file path=customXml/itemProps18.xml><?xml version="1.0" encoding="utf-8"?>
<ds:datastoreItem xmlns:ds="http://schemas.openxmlformats.org/officeDocument/2006/customXml" ds:itemID="{FD2EC3E0-17AF-4583-9529-0E135DFDAB9B}">
  <ds:schemaRefs/>
</ds:datastoreItem>
</file>

<file path=customXml/itemProps19.xml><?xml version="1.0" encoding="utf-8"?>
<ds:datastoreItem xmlns:ds="http://schemas.openxmlformats.org/officeDocument/2006/customXml" ds:itemID="{40861247-8744-4F6F-86D9-000CAC848A23}">
  <ds:schemaRefs/>
</ds:datastoreItem>
</file>

<file path=customXml/itemProps20.xml><?xml version="1.0" encoding="utf-8"?>
<ds:datastoreItem xmlns:ds="http://schemas.openxmlformats.org/officeDocument/2006/customXml" ds:itemID="{10257CF2-61E8-42C8-872F-08A645540BDB}">
  <ds:schemaRefs/>
</ds:datastoreItem>
</file>

<file path=customXml/itemProps21.xml><?xml version="1.0" encoding="utf-8"?>
<ds:datastoreItem xmlns:ds="http://schemas.openxmlformats.org/officeDocument/2006/customXml" ds:itemID="{03F19553-C364-47A0-8660-35CD9F43C8DB}">
  <ds:schemaRefs/>
</ds:datastoreItem>
</file>

<file path=customXml/itemProps22.xml><?xml version="1.0" encoding="utf-8"?>
<ds:datastoreItem xmlns:ds="http://schemas.openxmlformats.org/officeDocument/2006/customXml" ds:itemID="{2C1452D1-3341-4FED-B065-C73DFD62F373}">
  <ds:schemaRefs/>
</ds:datastoreItem>
</file>

<file path=customXml/itemProps23.xml><?xml version="1.0" encoding="utf-8"?>
<ds:datastoreItem xmlns:ds="http://schemas.openxmlformats.org/officeDocument/2006/customXml" ds:itemID="{A7A6E4E8-EF0D-4CB5-8D9F-BD7C60097A95}">
  <ds:schemaRefs/>
</ds:datastoreItem>
</file>

<file path=customXml/itemProps24.xml><?xml version="1.0" encoding="utf-8"?>
<ds:datastoreItem xmlns:ds="http://schemas.openxmlformats.org/officeDocument/2006/customXml" ds:itemID="{DB5F3E69-B7C1-43B3-85EA-0C8B349F9C06}">
  <ds:schemaRefs/>
</ds:datastoreItem>
</file>

<file path=customXml/itemProps25.xml><?xml version="1.0" encoding="utf-8"?>
<ds:datastoreItem xmlns:ds="http://schemas.openxmlformats.org/officeDocument/2006/customXml" ds:itemID="{EF1F7480-9321-467D-914C-BF029BE8312A}">
  <ds:schemaRefs/>
</ds:datastoreItem>
</file>

<file path=customXml/itemProps26.xml><?xml version="1.0" encoding="utf-8"?>
<ds:datastoreItem xmlns:ds="http://schemas.openxmlformats.org/officeDocument/2006/customXml" ds:itemID="{8B561A7F-DB1E-4213-BB13-040284D18030}">
  <ds:schemaRefs/>
</ds:datastoreItem>
</file>

<file path=customXml/itemProps27.xml><?xml version="1.0" encoding="utf-8"?>
<ds:datastoreItem xmlns:ds="http://schemas.openxmlformats.org/officeDocument/2006/customXml" ds:itemID="{0EC710A3-7F97-447F-84E4-5285247F9218}">
  <ds:schemaRefs/>
</ds:datastoreItem>
</file>

<file path=customXml/itemProps28.xml><?xml version="1.0" encoding="utf-8"?>
<ds:datastoreItem xmlns:ds="http://schemas.openxmlformats.org/officeDocument/2006/customXml" ds:itemID="{25543965-2F7C-4F18-81B5-C39C83029D95}">
  <ds:schemaRefs/>
</ds:datastoreItem>
</file>

<file path=customXml/itemProps29.xml><?xml version="1.0" encoding="utf-8"?>
<ds:datastoreItem xmlns:ds="http://schemas.openxmlformats.org/officeDocument/2006/customXml" ds:itemID="{42939B5C-4072-4902-BEBA-0B6B0C0ACC8D}">
  <ds:schemaRefs/>
</ds:datastoreItem>
</file>

<file path=customXml/itemProps30.xml><?xml version="1.0" encoding="utf-8"?>
<ds:datastoreItem xmlns:ds="http://schemas.openxmlformats.org/officeDocument/2006/customXml" ds:itemID="{80206B0A-05AA-4A18-8F5A-4452C0EDAFB2}">
  <ds:schemaRefs/>
</ds:datastoreItem>
</file>

<file path=customXml/itemProps31.xml><?xml version="1.0" encoding="utf-8"?>
<ds:datastoreItem xmlns:ds="http://schemas.openxmlformats.org/officeDocument/2006/customXml" ds:itemID="{73055DFF-624B-48F3-B390-54CE641FEEB6}">
  <ds:schemaRefs/>
</ds:datastoreItem>
</file>

<file path=customXml/itemProps32.xml><?xml version="1.0" encoding="utf-8"?>
<ds:datastoreItem xmlns:ds="http://schemas.openxmlformats.org/officeDocument/2006/customXml" ds:itemID="{86E6EBD0-BED3-4798-A63C-ECF9BF4DA1C5}">
  <ds:schemaRefs/>
</ds:datastoreItem>
</file>

<file path=customXml/itemProps33.xml><?xml version="1.0" encoding="utf-8"?>
<ds:datastoreItem xmlns:ds="http://schemas.openxmlformats.org/officeDocument/2006/customXml" ds:itemID="{7C23956D-778A-46B0-8F64-18996C6C67B0}">
  <ds:schemaRefs/>
</ds:datastoreItem>
</file>

<file path=customXml/itemProps34.xml><?xml version="1.0" encoding="utf-8"?>
<ds:datastoreItem xmlns:ds="http://schemas.openxmlformats.org/officeDocument/2006/customXml" ds:itemID="{B21D2D9E-AE2C-4DBA-AC5C-8941C5A849CC}">
  <ds:schemaRefs/>
</ds:datastoreItem>
</file>

<file path=customXml/itemProps35.xml><?xml version="1.0" encoding="utf-8"?>
<ds:datastoreItem xmlns:ds="http://schemas.openxmlformats.org/officeDocument/2006/customXml" ds:itemID="{32E53566-742D-41C4-88B5-E04E57CAC194}">
  <ds:schemaRefs/>
</ds:datastoreItem>
</file>

<file path=customXml/itemProps36.xml><?xml version="1.0" encoding="utf-8"?>
<ds:datastoreItem xmlns:ds="http://schemas.openxmlformats.org/officeDocument/2006/customXml" ds:itemID="{8AA5EEA3-AD71-4B63-88D0-D7E26AEF70FE}">
  <ds:schemaRefs/>
</ds:datastoreItem>
</file>

<file path=customXml/itemProps37.xml><?xml version="1.0" encoding="utf-8"?>
<ds:datastoreItem xmlns:ds="http://schemas.openxmlformats.org/officeDocument/2006/customXml" ds:itemID="{F1B20372-CC31-4CE1-8B8F-6E077EC273AD}">
  <ds:schemaRefs/>
</ds:datastoreItem>
</file>

<file path=customXml/itemProps38.xml><?xml version="1.0" encoding="utf-8"?>
<ds:datastoreItem xmlns:ds="http://schemas.openxmlformats.org/officeDocument/2006/customXml" ds:itemID="{2BC18CAC-24D0-424B-8DA4-0B3A750C973A}">
  <ds:schemaRefs/>
</ds:datastoreItem>
</file>

<file path=customXml/itemProps39.xml><?xml version="1.0" encoding="utf-8"?>
<ds:datastoreItem xmlns:ds="http://schemas.openxmlformats.org/officeDocument/2006/customXml" ds:itemID="{8D3C277E-D3D0-4167-A210-AC48D6909D24}">
  <ds:schemaRefs/>
</ds:datastoreItem>
</file>

<file path=docMetadata/LabelInfo.xml><?xml version="1.0" encoding="utf-8"?>
<clbl:labelList xmlns:clbl="http://schemas.microsoft.com/office/2020/mipLabelMetadata">
  <clbl:label id="{2d0b1989-8fc8-4a69-bcac-d46889461ba5}" enabled="1" method="Privileged" siteId="{3dd8961f-e488-4e60-8e11-a82d994e183d}" contentBits="1" removed="0"/>
</clbl:labelList>
</file>

<file path=docProps/app.xml><?xml version="1.0" encoding="utf-8"?>
<Properties xmlns="http://schemas.openxmlformats.org/officeDocument/2006/extended-properties" xmlns:vt="http://schemas.openxmlformats.org/officeDocument/2006/docPropsVTypes">
  <Template>blank</Template>
  <TotalTime>96</TotalTime>
  <Words>890</Words>
  <Application>Microsoft Office PowerPoint</Application>
  <PresentationFormat>Widescreen</PresentationFormat>
  <Paragraphs>92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Consolas</vt:lpstr>
      <vt:lpstr>Segoe UI</vt:lpstr>
      <vt:lpstr>Wingdings</vt:lpstr>
      <vt:lpstr>AMD Corporate Template_Dark</vt:lpstr>
      <vt:lpstr>AMD Unsloth GRPO Fine-tuning</vt:lpstr>
      <vt:lpstr>Agenda</vt:lpstr>
      <vt:lpstr>What is a Large Language Model (LLM)?</vt:lpstr>
      <vt:lpstr>What is fine-tuning? Why do it?</vt:lpstr>
      <vt:lpstr>LoRA &amp;  QLoRA</vt:lpstr>
      <vt:lpstr>Training Methodology: SFT, GRPO, ..</vt:lpstr>
      <vt:lpstr>Fine-Tuning Pipeline</vt:lpstr>
      <vt:lpstr>Unsloth</vt:lpstr>
      <vt:lpstr>Game of Sudoku</vt:lpstr>
      <vt:lpstr>AMD UnSloth Fine-Tuning Workshop</vt:lpstr>
      <vt:lpstr>GPU – visibility &amp; health</vt:lpstr>
      <vt:lpstr>Jupyter Cells </vt:lpstr>
      <vt:lpstr>Fine-Tuning Complete!</vt:lpstr>
      <vt:lpstr>Fine-Tuning Trouble Shooting Tips</vt:lpstr>
      <vt:lpstr>Learn More!</vt:lpstr>
      <vt:lpstr>PowerPoint Presentation</vt:lpstr>
    </vt:vector>
  </TitlesOfParts>
  <Manager>&lt;Comms manager name here&gt;</Manager>
  <Company>AMD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AMD Corporate Powerpoint Template</dc:subject>
  <dc:creator>Bhandaru, Malini</dc:creator>
  <cp:keywords>AMD Corporate Powerpoint Template</cp:keywords>
  <dc:description/>
  <cp:lastModifiedBy>Bhandaru, Malini</cp:lastModifiedBy>
  <cp:revision>3</cp:revision>
  <cp:lastPrinted>2020-04-30T18:59:47Z</cp:lastPrinted>
  <dcterms:created xsi:type="dcterms:W3CDTF">2026-07-30T23:37:49Z</dcterms:created>
  <dcterms:modified xsi:type="dcterms:W3CDTF">2026-07-31T01:31:24Z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MSIP_Label_64e4cbe8-b4f6-45dc-bcba-6123dfd2d8bf_Enabled">
    <vt:lpwstr>true</vt:lpwstr>
  </property>
  <property fmtid="{D5CDD505-2E9C-101B-9397-08002B2CF9AE}" pid="7" name="MSIP_Label_64e4cbe8-b4f6-45dc-bcba-6123dfd2d8bf_SetDate">
    <vt:lpwstr>2024-02-15T15:59:13Z</vt:lpwstr>
  </property>
  <property fmtid="{D5CDD505-2E9C-101B-9397-08002B2CF9AE}" pid="8" name="MSIP_Label_64e4cbe8-b4f6-45dc-bcba-6123dfd2d8bf_Method">
    <vt:lpwstr>Privileged</vt:lpwstr>
  </property>
  <property fmtid="{D5CDD505-2E9C-101B-9397-08002B2CF9AE}" pid="9" name="MSIP_Label_64e4cbe8-b4f6-45dc-bcba-6123dfd2d8bf_Name">
    <vt:lpwstr>Non-Business-AIP 2.0</vt:lpwstr>
  </property>
  <property fmtid="{D5CDD505-2E9C-101B-9397-08002B2CF9AE}" pid="10" name="MSIP_Label_64e4cbe8-b4f6-45dc-bcba-6123dfd2d8bf_SiteId">
    <vt:lpwstr>3dd8961f-e488-4e60-8e11-a82d994e183d</vt:lpwstr>
  </property>
  <property fmtid="{D5CDD505-2E9C-101B-9397-08002B2CF9AE}" pid="11" name="MSIP_Label_64e4cbe8-b4f6-45dc-bcba-6123dfd2d8bf_ActionId">
    <vt:lpwstr>c382c031-d868-43ef-a7b1-f4e852747774</vt:lpwstr>
  </property>
  <property fmtid="{D5CDD505-2E9C-101B-9397-08002B2CF9AE}" pid="12" name="MSIP_Label_64e4cbe8-b4f6-45dc-bcba-6123dfd2d8bf_ContentBits">
    <vt:lpwstr>0</vt:lpwstr>
  </property>
  <property fmtid="{D5CDD505-2E9C-101B-9397-08002B2CF9AE}" pid="13" name="ClassificationContentMarkingHeaderLocations">
    <vt:lpwstr>AMD Corporate Template_Dark:6</vt:lpwstr>
  </property>
  <property fmtid="{D5CDD505-2E9C-101B-9397-08002B2CF9AE}" pid="14" name="ClassificationContentMarkingHeaderText">
    <vt:lpwstr>Public</vt:lpwstr>
  </property>
</Properties>
</file>